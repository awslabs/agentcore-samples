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D5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70" autoAdjust="0"/>
    <p:restoredTop sz="94694"/>
  </p:normalViewPr>
  <p:slideViewPr>
    <p:cSldViewPr snapToGrid="0">
      <p:cViewPr varScale="1">
        <p:scale>
          <a:sx n="96" d="100"/>
          <a:sy n="96" d="100"/>
        </p:scale>
        <p:origin x="184" y="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A24B7E-A2BB-5A4B-BBBC-A2D8AE3A1B12}" type="datetimeFigureOut">
              <a:rPr lang="en-US" smtClean="0"/>
              <a:t>4/10/26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CCD986-FA43-054A-B878-5F932E46A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701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CCD986-FA43-054A-B878-5F932E46A63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117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A8217-69D3-F9A2-2381-41A093C01E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3F5FF6-7DD5-25D1-6E78-07776CB02B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374FD2-9FD4-6630-2C74-0250F97D4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10A00-B499-4DBC-9118-FE17413C275B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6B696B-B4FC-3444-FFB4-11BC0E1DD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015029-5F87-312F-498D-EA98DA947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D3C53-B51D-4BFF-92B5-46459D747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396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24F10-1C08-0891-4B1E-3A8708ADF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F5DA5-F366-631A-3BB1-153F2B2BCF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37292C-65B5-4101-A079-C0DB57AA7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10A00-B499-4DBC-9118-FE17413C275B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B4328-9E67-FC89-1863-1F634BFF9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9937ED-AB7E-9AFB-435D-E78DF9021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D3C53-B51D-4BFF-92B5-46459D747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91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137D7-1814-40DB-AF7E-FD8EA4B03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17EB6C-613E-6BCA-2FD8-4456DBBE85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E40793-1DAF-C359-32E8-DAC576128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10A00-B499-4DBC-9118-FE17413C275B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96628-A483-BE3E-D75B-029C770B4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C8916-F6BE-50C3-203B-F02855211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D3C53-B51D-4BFF-92B5-46459D747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605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51642-4512-03AB-318C-E70656904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6A5A9E-D534-9590-FDA6-9D4A924A01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3CB250-8A69-2E91-F093-3C322CAB38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D2280A-C0A9-1B7C-DB42-713174574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10A00-B499-4DBC-9118-FE17413C275B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F28A73-367C-D04E-0716-DD5BD3475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2B5CE0-A4D7-0873-DE38-17C62713A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D3C53-B51D-4BFF-92B5-46459D747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169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2DDB2-5CA1-5494-E152-FBFDA98AB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479C4B-3768-07C3-8962-EEC5345124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35774A-7F23-30D1-3850-9BF31AEC79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2B1FF0-43F5-3E5F-538A-E76E9C19BA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679ADC-364A-58E1-23A6-E2914EBBE9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916EAE-6D60-AC2F-2757-9B6BA929A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10A00-B499-4DBC-9118-FE17413C275B}" type="datetimeFigureOut">
              <a:rPr lang="en-US" smtClean="0"/>
              <a:t>4/10/26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098F28-227E-1166-07FF-4E7E1A7A6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A88921-FCA9-FB6A-1D1F-D0C8CFE3E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D3C53-B51D-4BFF-92B5-46459D747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778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37AD8-C194-2E62-ADA5-56E703D59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FB4B51-3ADF-A224-E0AE-93A5F20E5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10A00-B499-4DBC-9118-FE17413C275B}" type="datetimeFigureOut">
              <a:rPr lang="en-US" smtClean="0"/>
              <a:t>4/10/26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A04201-45F2-50CD-E42B-EBF8AF7B1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2859BD-8931-C609-A01D-A126B85F1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D3C53-B51D-4BFF-92B5-46459D747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29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7AD7CC-8276-08E6-D73A-C94576A34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10A00-B499-4DBC-9118-FE17413C275B}" type="datetimeFigureOut">
              <a:rPr lang="en-US" smtClean="0"/>
              <a:t>4/10/26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9F8709-A880-1601-F42B-CD78914BC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944BA5-989F-4A98-F6A8-389EA5463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D3C53-B51D-4BFF-92B5-46459D747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299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6138E-D553-3E05-3328-23429AA3C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01F7E-5E0B-CDC0-FF20-5CE0241DA2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DC85B6-F2FC-A16E-6B5A-360429C4C1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BEEF02-1C0C-CE4E-82F0-6556D8BD1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10A00-B499-4DBC-9118-FE17413C275B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826CDE-3323-12E2-8F0F-13B04F4EE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B9BC91-AF49-08D1-205C-300E35293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D3C53-B51D-4BFF-92B5-46459D747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855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08902-B960-F5B7-14F3-B10E4FA4E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418354-0346-5808-A1DF-0BFA0DCA10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F07404-16DF-A1DE-B39D-33BADF9D81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F50F18-192E-5E65-18EE-E04DD25AA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10A00-B499-4DBC-9118-FE17413C275B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D7AA7D-6E0F-7FAB-3190-3E99BA194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DAC01D-A8E3-4052-2E85-4DBEC6F35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D3C53-B51D-4BFF-92B5-46459D747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255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BFB0E-C149-71DF-4FB4-82693623B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4B9CEE-97AD-8FA3-0193-71B344F2A1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35E030-B69B-E128-2B1F-147F5B0DD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10A00-B499-4DBC-9118-FE17413C275B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23A05D-A681-DED9-7F56-F7D4738AE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FFBB8-694C-550A-E7C0-E38B65595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D3C53-B51D-4BFF-92B5-46459D747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5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313EE0-9B6C-5F74-5091-5927C5B312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22BBC6-F04F-F8B9-793E-943DEDA4CF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898BB0-9AC6-EDB2-DEDA-8AF969400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10A00-B499-4DBC-9118-FE17413C275B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394BB4-6B26-192B-1DA0-87F54B4F7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018C31-738D-B9BB-6346-7AC29B9B0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D3C53-B51D-4BFF-92B5-46459D747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720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B9C7BD-4298-9DC7-134D-C325038A3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1F0700-D8B2-5C2F-2440-173830A3A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BD8B9-1DCB-896E-31F7-A525F639A6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F10A00-B499-4DBC-9118-FE17413C275B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A22FF-6512-467C-25D0-91CBCFC599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1E13DA-7AAF-8D3A-10AB-7D53BAE00D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BD3C53-B51D-4BFF-92B5-46459D747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287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0" Type="http://schemas.openxmlformats.org/officeDocument/2006/relationships/image" Target="../media/image8.sv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8E8F5-22AD-CDCF-9F9F-F293F0926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C492CFC2-5F67-D658-B9DF-7F937EF7E1A3}"/>
              </a:ext>
            </a:extLst>
          </p:cNvPr>
          <p:cNvGrpSpPr/>
          <p:nvPr/>
        </p:nvGrpSpPr>
        <p:grpSpPr>
          <a:xfrm>
            <a:off x="0" y="88977"/>
            <a:ext cx="11661809" cy="6769023"/>
            <a:chOff x="-4287" y="162096"/>
            <a:chExt cx="11661809" cy="6769023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C0491E63-0FC1-A70B-4DF4-D39357660C34}"/>
                </a:ext>
              </a:extLst>
            </p:cNvPr>
            <p:cNvGrpSpPr/>
            <p:nvPr/>
          </p:nvGrpSpPr>
          <p:grpSpPr>
            <a:xfrm>
              <a:off x="9397579" y="317080"/>
              <a:ext cx="2135908" cy="4957766"/>
              <a:chOff x="9607129" y="612355"/>
              <a:chExt cx="2135908" cy="4957766"/>
            </a:xfrm>
          </p:grpSpPr>
          <p:sp>
            <p:nvSpPr>
              <p:cNvPr id="12" name="Rectangle: Rounded Corners 37">
                <a:extLst>
                  <a:ext uri="{FF2B5EF4-FFF2-40B4-BE49-F238E27FC236}">
                    <a16:creationId xmlns:a16="http://schemas.microsoft.com/office/drawing/2014/main" id="{55ABE76F-EB9E-69CE-2994-47FEC188D3DA}"/>
                  </a:ext>
                </a:extLst>
              </p:cNvPr>
              <p:cNvSpPr/>
              <p:nvPr/>
            </p:nvSpPr>
            <p:spPr>
              <a:xfrm>
                <a:off x="9607129" y="612355"/>
                <a:ext cx="1929384" cy="4957766"/>
              </a:xfrm>
              <a:prstGeom prst="roundRect">
                <a:avLst>
                  <a:gd name="adj" fmla="val 9605"/>
                </a:avLst>
              </a:prstGeom>
              <a:gradFill flip="none" rotWithShape="1">
                <a:gsLst>
                  <a:gs pos="3000">
                    <a:srgbClr val="41B3FF"/>
                  </a:gs>
                  <a:gs pos="80000">
                    <a:srgbClr val="AD5CFF"/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19050" cap="flat" cmpd="sng" algn="ctr">
                <a:noFill/>
                <a:prstDash val="solid"/>
                <a:miter lim="800000"/>
              </a:ln>
              <a:effectLst>
                <a:outerShdw blurRad="228600" dist="38100" dir="2700000" algn="tl" rotWithShape="0">
                  <a:prstClr val="black">
                    <a:alpha val="25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mazonEmberDisplay_Rg.ttf" panose="02110004020202020204"/>
                  <a:ea typeface="+mn-ea"/>
                  <a:cs typeface="+mn-cs"/>
                </a:endParaRPr>
              </a:p>
            </p:txBody>
          </p:sp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77F3C84F-4F46-43C9-F2A6-52B6B98481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125566" y="1891532"/>
                <a:ext cx="987105" cy="100584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82546C9-D7B7-2A73-692F-1DE23E415CE3}"/>
                  </a:ext>
                </a:extLst>
              </p:cNvPr>
              <p:cNvSpPr txBox="1"/>
              <p:nvPr/>
            </p:nvSpPr>
            <p:spPr>
              <a:xfrm>
                <a:off x="9632092" y="2928420"/>
                <a:ext cx="2110945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rIns="0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mazon Ember Display" panose="020F0603020204020204" pitchFamily="34" charset="0"/>
                    <a:ea typeface="Amazon Ember Display" panose="020F0603020204020204" pitchFamily="34" charset="0"/>
                    <a:cs typeface="Amazon Ember Display" panose="020F0603020204020204" pitchFamily="34" charset="0"/>
                  </a:rPr>
                  <a:t>AWS Agent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mazon Ember Display" panose="020F0603020204020204" pitchFamily="34" charset="0"/>
                    <a:ea typeface="Amazon Ember Display" panose="020F0603020204020204" pitchFamily="34" charset="0"/>
                    <a:cs typeface="Amazon Ember Display" panose="020F0603020204020204" pitchFamily="34" charset="0"/>
                  </a:rPr>
                  <a:t>Registry</a:t>
                </a:r>
              </a:p>
            </p:txBody>
          </p: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1D09A461-920D-A2A6-F126-749D2BA75904}"/>
                </a:ext>
              </a:extLst>
            </p:cNvPr>
            <p:cNvGrpSpPr/>
            <p:nvPr/>
          </p:nvGrpSpPr>
          <p:grpSpPr>
            <a:xfrm>
              <a:off x="-4287" y="1028214"/>
              <a:ext cx="1202054" cy="886333"/>
              <a:chOff x="132023" y="2439728"/>
              <a:chExt cx="1202054" cy="886333"/>
            </a:xfrm>
          </p:grpSpPr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B9EC94E9-5887-83BA-2821-C8963E7E1495}"/>
                  </a:ext>
                </a:extLst>
              </p:cNvPr>
              <p:cNvGrpSpPr/>
              <p:nvPr/>
            </p:nvGrpSpPr>
            <p:grpSpPr>
              <a:xfrm>
                <a:off x="539399" y="2439728"/>
                <a:ext cx="743302" cy="557784"/>
                <a:chOff x="5563620" y="185257"/>
                <a:chExt cx="1236090" cy="645686"/>
              </a:xfrm>
            </p:grpSpPr>
            <p:sp>
              <p:nvSpPr>
                <p:cNvPr id="69" name="Freeform: Shape 43">
                  <a:extLst>
                    <a:ext uri="{FF2B5EF4-FFF2-40B4-BE49-F238E27FC236}">
                      <a16:creationId xmlns:a16="http://schemas.microsoft.com/office/drawing/2014/main" id="{3262408E-3018-C7B2-489D-E4C66121F96B}"/>
                    </a:ext>
                  </a:extLst>
                </p:cNvPr>
                <p:cNvSpPr/>
                <p:nvPr/>
              </p:nvSpPr>
              <p:spPr>
                <a:xfrm>
                  <a:off x="5653174" y="185257"/>
                  <a:ext cx="254169" cy="254169"/>
                </a:xfrm>
                <a:custGeom>
                  <a:avLst/>
                  <a:gdLst>
                    <a:gd name="connsiteX0" fmla="*/ 4828 w 135174"/>
                    <a:gd name="connsiteY0" fmla="*/ 67909 h 135174"/>
                    <a:gd name="connsiteX1" fmla="*/ 67909 w 135174"/>
                    <a:gd name="connsiteY1" fmla="*/ 4828 h 135174"/>
                    <a:gd name="connsiteX2" fmla="*/ 130991 w 135174"/>
                    <a:gd name="connsiteY2" fmla="*/ 67909 h 135174"/>
                    <a:gd name="connsiteX3" fmla="*/ 67909 w 135174"/>
                    <a:gd name="connsiteY3" fmla="*/ 130991 h 135174"/>
                    <a:gd name="connsiteX4" fmla="*/ 4828 w 135174"/>
                    <a:gd name="connsiteY4" fmla="*/ 67909 h 1351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5174" h="135174">
                      <a:moveTo>
                        <a:pt x="4828" y="67909"/>
                      </a:moveTo>
                      <a:cubicBezTo>
                        <a:pt x="4828" y="33150"/>
                        <a:pt x="33150" y="4828"/>
                        <a:pt x="67909" y="4828"/>
                      </a:cubicBezTo>
                      <a:cubicBezTo>
                        <a:pt x="102668" y="4828"/>
                        <a:pt x="130991" y="33150"/>
                        <a:pt x="130991" y="67909"/>
                      </a:cubicBezTo>
                      <a:cubicBezTo>
                        <a:pt x="130991" y="102668"/>
                        <a:pt x="102668" y="130991"/>
                        <a:pt x="67909" y="130991"/>
                      </a:cubicBezTo>
                      <a:cubicBezTo>
                        <a:pt x="33150" y="130991"/>
                        <a:pt x="4828" y="102668"/>
                        <a:pt x="4828" y="67909"/>
                      </a:cubicBezTo>
                    </a:path>
                  </a:pathLst>
                </a:custGeom>
                <a:noFill/>
                <a:ln w="19050" cap="flat">
                  <a:solidFill>
                    <a:srgbClr val="AD5CFF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Amazon Ember Display"/>
                  </a:endParaRPr>
                </a:p>
              </p:txBody>
            </p:sp>
            <p:sp>
              <p:nvSpPr>
                <p:cNvPr id="70" name="Freeform: Shape 49">
                  <a:extLst>
                    <a:ext uri="{FF2B5EF4-FFF2-40B4-BE49-F238E27FC236}">
                      <a16:creationId xmlns:a16="http://schemas.microsoft.com/office/drawing/2014/main" id="{BCA3544B-9EEE-D6CD-FA70-A78B6AEBB8FB}"/>
                    </a:ext>
                  </a:extLst>
                </p:cNvPr>
                <p:cNvSpPr/>
                <p:nvPr/>
              </p:nvSpPr>
              <p:spPr>
                <a:xfrm>
                  <a:off x="5563620" y="429652"/>
                  <a:ext cx="338891" cy="229962"/>
                </a:xfrm>
                <a:custGeom>
                  <a:avLst/>
                  <a:gdLst>
                    <a:gd name="connsiteX0" fmla="*/ 175083 w 180232"/>
                    <a:gd name="connsiteY0" fmla="*/ 119452 h 122300"/>
                    <a:gd name="connsiteX1" fmla="*/ 4828 w 180232"/>
                    <a:gd name="connsiteY1" fmla="*/ 120096 h 122300"/>
                    <a:gd name="connsiteX2" fmla="*/ 117795 w 180232"/>
                    <a:gd name="connsiteY2" fmla="*/ 4876 h 122300"/>
                    <a:gd name="connsiteX3" fmla="*/ 176693 w 180232"/>
                    <a:gd name="connsiteY3" fmla="*/ 23543 h 122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0232" h="122300">
                      <a:moveTo>
                        <a:pt x="175083" y="119452"/>
                      </a:moveTo>
                      <a:lnTo>
                        <a:pt x="4828" y="120096"/>
                      </a:lnTo>
                      <a:cubicBezTo>
                        <a:pt x="11908" y="3267"/>
                        <a:pt x="117795" y="4876"/>
                        <a:pt x="117795" y="4876"/>
                      </a:cubicBezTo>
                      <a:cubicBezTo>
                        <a:pt x="117795" y="4876"/>
                        <a:pt x="147727" y="2945"/>
                        <a:pt x="176693" y="23543"/>
                      </a:cubicBezTo>
                    </a:path>
                  </a:pathLst>
                </a:custGeom>
                <a:noFill/>
                <a:ln w="19050" cap="flat">
                  <a:solidFill>
                    <a:srgbClr val="AD5CFF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Amazon Ember Display"/>
                  </a:endParaRPr>
                </a:p>
              </p:txBody>
            </p:sp>
            <p:grpSp>
              <p:nvGrpSpPr>
                <p:cNvPr id="71" name="Group 70">
                  <a:extLst>
                    <a:ext uri="{FF2B5EF4-FFF2-40B4-BE49-F238E27FC236}">
                      <a16:creationId xmlns:a16="http://schemas.microsoft.com/office/drawing/2014/main" id="{1E0A40EA-0917-E1D2-0758-23EF225300BE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6036333" y="415150"/>
                  <a:ext cx="763377" cy="415793"/>
                  <a:chOff x="7921850" y="1709044"/>
                  <a:chExt cx="608615" cy="331500"/>
                </a:xfrm>
              </p:grpSpPr>
              <p:sp>
                <p:nvSpPr>
                  <p:cNvPr id="72" name="Freeform: Shape 51">
                    <a:extLst>
                      <a:ext uri="{FF2B5EF4-FFF2-40B4-BE49-F238E27FC236}">
                        <a16:creationId xmlns:a16="http://schemas.microsoft.com/office/drawing/2014/main" id="{596FB3A4-1A3F-66F2-EB87-40B86325F4A2}"/>
                      </a:ext>
                    </a:extLst>
                  </p:cNvPr>
                  <p:cNvSpPr/>
                  <p:nvPr/>
                </p:nvSpPr>
                <p:spPr>
                  <a:xfrm>
                    <a:off x="8047698" y="1998704"/>
                    <a:ext cx="482767" cy="41840"/>
                  </a:xfrm>
                  <a:custGeom>
                    <a:avLst/>
                    <a:gdLst>
                      <a:gd name="connsiteX0" fmla="*/ 4828 w 482766"/>
                      <a:gd name="connsiteY0" fmla="*/ 4828 h 41839"/>
                      <a:gd name="connsiteX1" fmla="*/ 4828 w 482766"/>
                      <a:gd name="connsiteY1" fmla="*/ 28322 h 41839"/>
                      <a:gd name="connsiteX2" fmla="*/ 6437 w 482766"/>
                      <a:gd name="connsiteY2" fmla="*/ 29610 h 41839"/>
                      <a:gd name="connsiteX3" fmla="*/ 32828 w 482766"/>
                      <a:gd name="connsiteY3" fmla="*/ 38621 h 41839"/>
                      <a:gd name="connsiteX4" fmla="*/ 455410 w 482766"/>
                      <a:gd name="connsiteY4" fmla="*/ 38621 h 41839"/>
                      <a:gd name="connsiteX5" fmla="*/ 477295 w 482766"/>
                      <a:gd name="connsiteY5" fmla="*/ 30897 h 41839"/>
                      <a:gd name="connsiteX6" fmla="*/ 480192 w 482766"/>
                      <a:gd name="connsiteY6" fmla="*/ 28322 h 41839"/>
                      <a:gd name="connsiteX7" fmla="*/ 480192 w 482766"/>
                      <a:gd name="connsiteY7" fmla="*/ 4828 h 41839"/>
                      <a:gd name="connsiteX8" fmla="*/ 4828 w 482766"/>
                      <a:gd name="connsiteY8" fmla="*/ 4828 h 4183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482766" h="41839">
                        <a:moveTo>
                          <a:pt x="4828" y="4828"/>
                        </a:moveTo>
                        <a:lnTo>
                          <a:pt x="4828" y="28322"/>
                        </a:lnTo>
                        <a:lnTo>
                          <a:pt x="6437" y="29610"/>
                        </a:lnTo>
                        <a:cubicBezTo>
                          <a:pt x="14161" y="35403"/>
                          <a:pt x="23495" y="38621"/>
                          <a:pt x="32828" y="38621"/>
                        </a:cubicBezTo>
                        <a:lnTo>
                          <a:pt x="455410" y="38621"/>
                        </a:lnTo>
                        <a:cubicBezTo>
                          <a:pt x="463456" y="38621"/>
                          <a:pt x="471180" y="36047"/>
                          <a:pt x="477295" y="30897"/>
                        </a:cubicBezTo>
                        <a:lnTo>
                          <a:pt x="480192" y="28322"/>
                        </a:lnTo>
                        <a:lnTo>
                          <a:pt x="480192" y="4828"/>
                        </a:lnTo>
                        <a:lnTo>
                          <a:pt x="4828" y="4828"/>
                        </a:lnTo>
                        <a:close/>
                      </a:path>
                    </a:pathLst>
                  </a:custGeom>
                  <a:noFill/>
                  <a:ln w="19050" cap="flat">
                    <a:solidFill>
                      <a:srgbClr val="FFFFFF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Amazon Ember Display"/>
                    </a:endParaRPr>
                  </a:p>
                </p:txBody>
              </p:sp>
              <p:sp>
                <p:nvSpPr>
                  <p:cNvPr id="73" name="Freeform: Shape 52">
                    <a:extLst>
                      <a:ext uri="{FF2B5EF4-FFF2-40B4-BE49-F238E27FC236}">
                        <a16:creationId xmlns:a16="http://schemas.microsoft.com/office/drawing/2014/main" id="{2C11E0EA-EC54-EFCC-4995-3F47AF8A6192}"/>
                      </a:ext>
                    </a:extLst>
                  </p:cNvPr>
                  <p:cNvSpPr/>
                  <p:nvPr/>
                </p:nvSpPr>
                <p:spPr>
                  <a:xfrm>
                    <a:off x="7921850" y="1730799"/>
                    <a:ext cx="354029" cy="244602"/>
                  </a:xfrm>
                  <a:custGeom>
                    <a:avLst/>
                    <a:gdLst>
                      <a:gd name="connsiteX0" fmla="*/ 351776 w 354028"/>
                      <a:gd name="connsiteY0" fmla="*/ 233337 h 244601"/>
                      <a:gd name="connsiteX1" fmla="*/ 342121 w 354028"/>
                      <a:gd name="connsiteY1" fmla="*/ 242993 h 244601"/>
                      <a:gd name="connsiteX2" fmla="*/ 14483 w 354028"/>
                      <a:gd name="connsiteY2" fmla="*/ 242993 h 244601"/>
                      <a:gd name="connsiteX3" fmla="*/ 4828 w 354028"/>
                      <a:gd name="connsiteY3" fmla="*/ 233337 h 244601"/>
                      <a:gd name="connsiteX4" fmla="*/ 4828 w 354028"/>
                      <a:gd name="connsiteY4" fmla="*/ 14483 h 244601"/>
                      <a:gd name="connsiteX5" fmla="*/ 14483 w 354028"/>
                      <a:gd name="connsiteY5" fmla="*/ 4828 h 244601"/>
                      <a:gd name="connsiteX6" fmla="*/ 340190 w 354028"/>
                      <a:gd name="connsiteY6" fmla="*/ 4828 h 244601"/>
                      <a:gd name="connsiteX7" fmla="*/ 349845 w 354028"/>
                      <a:gd name="connsiteY7" fmla="*/ 14483 h 244601"/>
                      <a:gd name="connsiteX8" fmla="*/ 351776 w 354028"/>
                      <a:gd name="connsiteY8" fmla="*/ 233337 h 2446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354028" h="244601">
                        <a:moveTo>
                          <a:pt x="351776" y="233337"/>
                        </a:moveTo>
                        <a:cubicBezTo>
                          <a:pt x="351776" y="238487"/>
                          <a:pt x="347592" y="242993"/>
                          <a:pt x="342121" y="242993"/>
                        </a:cubicBezTo>
                        <a:lnTo>
                          <a:pt x="14483" y="242993"/>
                        </a:lnTo>
                        <a:cubicBezTo>
                          <a:pt x="9333" y="242993"/>
                          <a:pt x="4828" y="238809"/>
                          <a:pt x="4828" y="233337"/>
                        </a:cubicBezTo>
                        <a:lnTo>
                          <a:pt x="4828" y="14483"/>
                        </a:lnTo>
                        <a:cubicBezTo>
                          <a:pt x="4828" y="9333"/>
                          <a:pt x="9012" y="4828"/>
                          <a:pt x="14483" y="4828"/>
                        </a:cubicBezTo>
                        <a:lnTo>
                          <a:pt x="340190" y="4828"/>
                        </a:lnTo>
                        <a:cubicBezTo>
                          <a:pt x="345339" y="4828"/>
                          <a:pt x="349845" y="9012"/>
                          <a:pt x="349845" y="14483"/>
                        </a:cubicBezTo>
                        <a:lnTo>
                          <a:pt x="351776" y="233337"/>
                        </a:lnTo>
                        <a:close/>
                      </a:path>
                    </a:pathLst>
                  </a:custGeom>
                  <a:noFill/>
                  <a:ln w="19050" cap="flat">
                    <a:solidFill>
                      <a:srgbClr val="FFFFFF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Amazon Ember Display"/>
                    </a:endParaRPr>
                  </a:p>
                </p:txBody>
              </p:sp>
              <p:sp>
                <p:nvSpPr>
                  <p:cNvPr id="74" name="Freeform: Shape 53">
                    <a:extLst>
                      <a:ext uri="{FF2B5EF4-FFF2-40B4-BE49-F238E27FC236}">
                        <a16:creationId xmlns:a16="http://schemas.microsoft.com/office/drawing/2014/main" id="{756DD869-7819-7FA6-14F2-D31451DDF795}"/>
                      </a:ext>
                    </a:extLst>
                  </p:cNvPr>
                  <p:cNvSpPr/>
                  <p:nvPr/>
                </p:nvSpPr>
                <p:spPr>
                  <a:xfrm>
                    <a:off x="7966227" y="1709044"/>
                    <a:ext cx="402306" cy="296097"/>
                  </a:xfrm>
                  <a:custGeom>
                    <a:avLst/>
                    <a:gdLst>
                      <a:gd name="connsiteX0" fmla="*/ 398765 w 402305"/>
                      <a:gd name="connsiteY0" fmla="*/ 283545 h 296096"/>
                      <a:gd name="connsiteX1" fmla="*/ 389110 w 402305"/>
                      <a:gd name="connsiteY1" fmla="*/ 293200 h 296096"/>
                      <a:gd name="connsiteX2" fmla="*/ 14483 w 402305"/>
                      <a:gd name="connsiteY2" fmla="*/ 293200 h 296096"/>
                      <a:gd name="connsiteX3" fmla="*/ 4828 w 402305"/>
                      <a:gd name="connsiteY3" fmla="*/ 283545 h 296096"/>
                      <a:gd name="connsiteX4" fmla="*/ 4828 w 402305"/>
                      <a:gd name="connsiteY4" fmla="*/ 14483 h 296096"/>
                      <a:gd name="connsiteX5" fmla="*/ 14483 w 402305"/>
                      <a:gd name="connsiteY5" fmla="*/ 4828 h 296096"/>
                      <a:gd name="connsiteX6" fmla="*/ 389110 w 402305"/>
                      <a:gd name="connsiteY6" fmla="*/ 4828 h 296096"/>
                      <a:gd name="connsiteX7" fmla="*/ 398765 w 402305"/>
                      <a:gd name="connsiteY7" fmla="*/ 14483 h 296096"/>
                      <a:gd name="connsiteX8" fmla="*/ 398765 w 402305"/>
                      <a:gd name="connsiteY8" fmla="*/ 283545 h 2960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402305" h="296096">
                        <a:moveTo>
                          <a:pt x="398765" y="283545"/>
                        </a:moveTo>
                        <a:cubicBezTo>
                          <a:pt x="398765" y="288695"/>
                          <a:pt x="394581" y="293200"/>
                          <a:pt x="389110" y="293200"/>
                        </a:cubicBezTo>
                        <a:lnTo>
                          <a:pt x="14483" y="293200"/>
                        </a:lnTo>
                        <a:cubicBezTo>
                          <a:pt x="9333" y="293200"/>
                          <a:pt x="4828" y="289016"/>
                          <a:pt x="4828" y="283545"/>
                        </a:cubicBezTo>
                        <a:lnTo>
                          <a:pt x="4828" y="14483"/>
                        </a:lnTo>
                        <a:cubicBezTo>
                          <a:pt x="4828" y="9333"/>
                          <a:pt x="9012" y="4828"/>
                          <a:pt x="14483" y="4828"/>
                        </a:cubicBezTo>
                        <a:lnTo>
                          <a:pt x="389110" y="4828"/>
                        </a:lnTo>
                        <a:cubicBezTo>
                          <a:pt x="394260" y="4828"/>
                          <a:pt x="398765" y="9012"/>
                          <a:pt x="398765" y="14483"/>
                        </a:cubicBezTo>
                        <a:lnTo>
                          <a:pt x="398765" y="283545"/>
                        </a:lnTo>
                        <a:close/>
                      </a:path>
                    </a:pathLst>
                  </a:custGeom>
                  <a:noFill/>
                  <a:ln w="19050" cap="flat">
                    <a:solidFill>
                      <a:srgbClr val="FFFFFF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Amazon Ember Display"/>
                    </a:endParaRPr>
                  </a:p>
                </p:txBody>
              </p:sp>
              <p:sp>
                <p:nvSpPr>
                  <p:cNvPr id="75" name="Freeform: Shape 54">
                    <a:extLst>
                      <a:ext uri="{FF2B5EF4-FFF2-40B4-BE49-F238E27FC236}">
                        <a16:creationId xmlns:a16="http://schemas.microsoft.com/office/drawing/2014/main" id="{A569915F-29DE-CD4C-E15B-3C20A781B4C4}"/>
                      </a:ext>
                    </a:extLst>
                  </p:cNvPr>
                  <p:cNvSpPr/>
                  <p:nvPr/>
                </p:nvSpPr>
                <p:spPr>
                  <a:xfrm>
                    <a:off x="8011231" y="1765367"/>
                    <a:ext cx="61150" cy="177014"/>
                  </a:xfrm>
                  <a:custGeom>
                    <a:avLst/>
                    <a:gdLst>
                      <a:gd name="connsiteX0" fmla="*/ 56966 w 61150"/>
                      <a:gd name="connsiteY0" fmla="*/ 4828 h 177014"/>
                      <a:gd name="connsiteX1" fmla="*/ 4828 w 61150"/>
                      <a:gd name="connsiteY1" fmla="*/ 175083 h 17701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61150" h="177014">
                        <a:moveTo>
                          <a:pt x="56966" y="4828"/>
                        </a:moveTo>
                        <a:lnTo>
                          <a:pt x="4828" y="175083"/>
                        </a:lnTo>
                      </a:path>
                    </a:pathLst>
                  </a:custGeom>
                  <a:ln w="19050" cap="flat">
                    <a:solidFill>
                      <a:srgbClr val="AD5CFF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Amazon Ember Display"/>
                    </a:endParaRPr>
                  </a:p>
                </p:txBody>
              </p:sp>
              <p:sp>
                <p:nvSpPr>
                  <p:cNvPr id="76" name="Freeform: Shape 55">
                    <a:extLst>
                      <a:ext uri="{FF2B5EF4-FFF2-40B4-BE49-F238E27FC236}">
                        <a16:creationId xmlns:a16="http://schemas.microsoft.com/office/drawing/2014/main" id="{6D4A6536-F1CA-9C7C-AF9D-19AF97B5F6F5}"/>
                      </a:ext>
                    </a:extLst>
                  </p:cNvPr>
                  <p:cNvSpPr/>
                  <p:nvPr/>
                </p:nvSpPr>
                <p:spPr>
                  <a:xfrm>
                    <a:off x="8178689" y="1804953"/>
                    <a:ext cx="67587" cy="80461"/>
                  </a:xfrm>
                  <a:custGeom>
                    <a:avLst/>
                    <a:gdLst>
                      <a:gd name="connsiteX0" fmla="*/ 65013 w 67587"/>
                      <a:gd name="connsiteY0" fmla="*/ 4828 h 80461"/>
                      <a:gd name="connsiteX1" fmla="*/ 4828 w 67587"/>
                      <a:gd name="connsiteY1" fmla="*/ 37978 h 80461"/>
                      <a:gd name="connsiteX2" fmla="*/ 4828 w 67587"/>
                      <a:gd name="connsiteY2" fmla="*/ 45702 h 80461"/>
                      <a:gd name="connsiteX3" fmla="*/ 65013 w 67587"/>
                      <a:gd name="connsiteY3" fmla="*/ 77565 h 8046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7587" h="80461">
                        <a:moveTo>
                          <a:pt x="65013" y="4828"/>
                        </a:moveTo>
                        <a:lnTo>
                          <a:pt x="4828" y="37978"/>
                        </a:lnTo>
                        <a:lnTo>
                          <a:pt x="4828" y="45702"/>
                        </a:lnTo>
                        <a:lnTo>
                          <a:pt x="65013" y="77565"/>
                        </a:lnTo>
                      </a:path>
                    </a:pathLst>
                  </a:custGeom>
                  <a:noFill/>
                  <a:ln w="19050" cap="flat">
                    <a:solidFill>
                      <a:srgbClr val="AD5CFF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Amazon Ember Display"/>
                    </a:endParaRPr>
                  </a:p>
                </p:txBody>
              </p:sp>
              <p:sp>
                <p:nvSpPr>
                  <p:cNvPr id="77" name="Freeform: Shape 58">
                    <a:extLst>
                      <a:ext uri="{FF2B5EF4-FFF2-40B4-BE49-F238E27FC236}">
                        <a16:creationId xmlns:a16="http://schemas.microsoft.com/office/drawing/2014/main" id="{D3ED5AF7-21E0-874A-2F6E-35F8B5BE0111}"/>
                      </a:ext>
                    </a:extLst>
                  </p:cNvPr>
                  <p:cNvSpPr/>
                  <p:nvPr/>
                </p:nvSpPr>
                <p:spPr>
                  <a:xfrm>
                    <a:off x="8332209" y="1804953"/>
                    <a:ext cx="67587" cy="80461"/>
                  </a:xfrm>
                  <a:custGeom>
                    <a:avLst/>
                    <a:gdLst>
                      <a:gd name="connsiteX0" fmla="*/ 4828 w 67587"/>
                      <a:gd name="connsiteY0" fmla="*/ 4828 h 80461"/>
                      <a:gd name="connsiteX1" fmla="*/ 65334 w 67587"/>
                      <a:gd name="connsiteY1" fmla="*/ 37978 h 80461"/>
                      <a:gd name="connsiteX2" fmla="*/ 65334 w 67587"/>
                      <a:gd name="connsiteY2" fmla="*/ 45702 h 80461"/>
                      <a:gd name="connsiteX3" fmla="*/ 4828 w 67587"/>
                      <a:gd name="connsiteY3" fmla="*/ 77565 h 8046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7587" h="80461">
                        <a:moveTo>
                          <a:pt x="4828" y="4828"/>
                        </a:moveTo>
                        <a:lnTo>
                          <a:pt x="65334" y="37978"/>
                        </a:lnTo>
                        <a:lnTo>
                          <a:pt x="65334" y="45702"/>
                        </a:lnTo>
                        <a:lnTo>
                          <a:pt x="4828" y="77565"/>
                        </a:lnTo>
                      </a:path>
                    </a:pathLst>
                  </a:custGeom>
                  <a:noFill/>
                  <a:ln w="19050" cap="flat">
                    <a:solidFill>
                      <a:srgbClr val="AD5CFF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Amazon Ember Display"/>
                    </a:endParaRPr>
                  </a:p>
                </p:txBody>
              </p:sp>
            </p:grpSp>
          </p:grp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A731032C-0BAE-8473-CAB7-98E17A51AC94}"/>
                  </a:ext>
                </a:extLst>
              </p:cNvPr>
              <p:cNvSpPr txBox="1"/>
              <p:nvPr/>
            </p:nvSpPr>
            <p:spPr>
              <a:xfrm>
                <a:off x="132023" y="2932960"/>
                <a:ext cx="1202054" cy="393101"/>
              </a:xfrm>
              <a:prstGeom prst="rect">
                <a:avLst/>
              </a:prstGeom>
            </p:spPr>
            <p:txBody>
              <a:bodyPr vert="horz" wrap="none" lIns="91440" tIns="45720" rIns="91440" bIns="4572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mazon Ember Display" panose="020F0603020204020204" pitchFamily="34" charset="0"/>
                    <a:ea typeface="Amazon Ember Display" panose="020F0603020204020204" pitchFamily="34" charset="0"/>
                    <a:cs typeface="Amazon Ember Display" panose="020F0603020204020204" pitchFamily="34" charset="0"/>
                  </a:rPr>
                  <a:t>Agent/Tool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mazon Ember Display" panose="020F0603020204020204" pitchFamily="34" charset="0"/>
                    <a:ea typeface="Amazon Ember Display" panose="020F0603020204020204" pitchFamily="34" charset="0"/>
                    <a:cs typeface="Amazon Ember Display" panose="020F0603020204020204" pitchFamily="34" charset="0"/>
                  </a:rPr>
                  <a:t>Developer</a:t>
                </a:r>
              </a:p>
            </p:txBody>
          </p:sp>
        </p:grpSp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E5281F2F-8B25-00D3-4366-34AAD735BA6D}"/>
                </a:ext>
              </a:extLst>
            </p:cNvPr>
            <p:cNvGrpSpPr/>
            <p:nvPr/>
          </p:nvGrpSpPr>
          <p:grpSpPr>
            <a:xfrm>
              <a:off x="3498945" y="343273"/>
              <a:ext cx="3222729" cy="2924199"/>
              <a:chOff x="3824765" y="2014121"/>
              <a:chExt cx="3222729" cy="2924199"/>
            </a:xfrm>
          </p:grpSpPr>
          <p:grpSp>
            <p:nvGrpSpPr>
              <p:cNvPr id="85" name="Group 84">
                <a:extLst>
                  <a:ext uri="{FF2B5EF4-FFF2-40B4-BE49-F238E27FC236}">
                    <a16:creationId xmlns:a16="http://schemas.microsoft.com/office/drawing/2014/main" id="{DE744DB8-E1CA-33FF-2F0F-4AC9C6C7B4AA}"/>
                  </a:ext>
                </a:extLst>
              </p:cNvPr>
              <p:cNvGrpSpPr/>
              <p:nvPr/>
            </p:nvGrpSpPr>
            <p:grpSpPr>
              <a:xfrm>
                <a:off x="3824765" y="2014121"/>
                <a:ext cx="2711886" cy="782921"/>
                <a:chOff x="2699527" y="1107488"/>
                <a:chExt cx="2711886" cy="782921"/>
              </a:xfrm>
            </p:grpSpPr>
            <p:pic>
              <p:nvPicPr>
                <p:cNvPr id="82" name="Picture 81">
                  <a:extLst>
                    <a:ext uri="{FF2B5EF4-FFF2-40B4-BE49-F238E27FC236}">
                      <a16:creationId xmlns:a16="http://schemas.microsoft.com/office/drawing/2014/main" id="{558681D0-EE70-C93B-1C94-2EE97828515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699527" y="1107488"/>
                  <a:ext cx="742249" cy="782921"/>
                </a:xfrm>
                <a:prstGeom prst="rect">
                  <a:avLst/>
                </a:prstGeom>
              </p:spPr>
            </p:pic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E6AA03FF-5F91-6DC3-7EC3-D3F6470B809E}"/>
                    </a:ext>
                  </a:extLst>
                </p:cNvPr>
                <p:cNvSpPr txBox="1"/>
                <p:nvPr/>
              </p:nvSpPr>
              <p:spPr>
                <a:xfrm>
                  <a:off x="3300468" y="1291668"/>
                  <a:ext cx="2110945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rIns="0" rtlCol="0">
                  <a:spAutoFit/>
                </a:bodyPr>
                <a:lstStyle/>
                <a:p>
                  <a:pPr lvl="0" algn="ctr">
                    <a:defRPr/>
                  </a:pPr>
                  <a:r>
                    <a:rPr lang="en-US" sz="1400" dirty="0" err="1">
                      <a:latin typeface="Amazon Ember Display" panose="020F0603020204020204" pitchFamily="34" charset="0"/>
                      <a:ea typeface="Amazon Ember Display" panose="020F0603020204020204" pitchFamily="34" charset="0"/>
                      <a:cs typeface="Amazon Ember Display" panose="020F0603020204020204" pitchFamily="34" charset="0"/>
                    </a:rPr>
                    <a:t>AgentCore</a:t>
                  </a:r>
                  <a:r>
                    <a:rPr lang="en-US" sz="1400" dirty="0">
                      <a:latin typeface="Amazon Ember Display" panose="020F0603020204020204" pitchFamily="34" charset="0"/>
                      <a:ea typeface="Amazon Ember Display" panose="020F0603020204020204" pitchFamily="34" charset="0"/>
                      <a:cs typeface="Amazon Ember Display" panose="020F0603020204020204" pitchFamily="34" charset="0"/>
                    </a:rPr>
                    <a:t> Runtime</a:t>
                  </a:r>
                  <a:endParaRPr kumimoji="0" lang="en-US" sz="140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mazon Ember Display" panose="020F0603020204020204" pitchFamily="34" charset="0"/>
                    <a:ea typeface="Amazon Ember Display" panose="020F0603020204020204" pitchFamily="34" charset="0"/>
                    <a:cs typeface="Amazon Ember Display" panose="020F0603020204020204" pitchFamily="34" charset="0"/>
                  </a:endParaRPr>
                </a:p>
              </p:txBody>
            </p:sp>
          </p:grp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F378842F-E81E-CF66-07C5-23155D0423BF}"/>
                  </a:ext>
                </a:extLst>
              </p:cNvPr>
              <p:cNvSpPr/>
              <p:nvPr/>
            </p:nvSpPr>
            <p:spPr>
              <a:xfrm>
                <a:off x="3870695" y="2104657"/>
                <a:ext cx="3176799" cy="1472595"/>
              </a:xfrm>
              <a:prstGeom prst="rect">
                <a:avLst/>
              </a:prstGeom>
              <a:noFill/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92A0477B-FA8C-B873-8F1C-A06CAD65AE54}"/>
                  </a:ext>
                </a:extLst>
              </p:cNvPr>
              <p:cNvGrpSpPr/>
              <p:nvPr/>
            </p:nvGrpSpPr>
            <p:grpSpPr>
              <a:xfrm>
                <a:off x="4136453" y="2825820"/>
                <a:ext cx="1554370" cy="548640"/>
                <a:chOff x="3038648" y="4225629"/>
                <a:chExt cx="1554370" cy="646331"/>
              </a:xfrm>
            </p:grpSpPr>
            <p:sp>
              <p:nvSpPr>
                <p:cNvPr id="93" name="Rectangle: Rounded Corners 37">
                  <a:extLst>
                    <a:ext uri="{FF2B5EF4-FFF2-40B4-BE49-F238E27FC236}">
                      <a16:creationId xmlns:a16="http://schemas.microsoft.com/office/drawing/2014/main" id="{F759869B-537B-35C8-73A8-884224F364AC}"/>
                    </a:ext>
                  </a:extLst>
                </p:cNvPr>
                <p:cNvSpPr/>
                <p:nvPr/>
              </p:nvSpPr>
              <p:spPr>
                <a:xfrm>
                  <a:off x="3038648" y="4225629"/>
                  <a:ext cx="1480800" cy="646331"/>
                </a:xfrm>
                <a:prstGeom prst="roundRect">
                  <a:avLst>
                    <a:gd name="adj" fmla="val 9605"/>
                  </a:avLst>
                </a:prstGeom>
                <a:gradFill flip="none" rotWithShape="1">
                  <a:gsLst>
                    <a:gs pos="3000">
                      <a:srgbClr val="41B3FF"/>
                    </a:gs>
                    <a:gs pos="80000">
                      <a:srgbClr val="AD5CFF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n w="19050" cap="flat" cmpd="sng" algn="ctr">
                  <a:noFill/>
                  <a:prstDash val="solid"/>
                  <a:miter lim="800000"/>
                </a:ln>
                <a:effectLst>
                  <a:outerShdw blurRad="228600" dist="38100" dir="2700000" algn="tl" rotWithShape="0">
                    <a:prstClr val="black">
                      <a:alpha val="25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AmazonEmberDisplay_Rg.ttf" panose="02110004020202020204"/>
                    <a:ea typeface="+mn-ea"/>
                    <a:cs typeface="+mn-cs"/>
                  </a:endParaRPr>
                </a:p>
              </p:txBody>
            </p:sp>
            <p:pic>
              <p:nvPicPr>
                <p:cNvPr id="99" name="Graphic 98">
                  <a:extLst>
                    <a:ext uri="{FF2B5EF4-FFF2-40B4-BE49-F238E27FC236}">
                      <a16:creationId xmlns:a16="http://schemas.microsoft.com/office/drawing/2014/main" id="{DAE208DB-8881-E047-EB8C-42603D9818B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123622" y="4404724"/>
                  <a:ext cx="358025" cy="358025"/>
                </a:xfrm>
                <a:prstGeom prst="rect">
                  <a:avLst/>
                </a:prstGeom>
              </p:spPr>
            </p:pic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52DFD7AD-FFF5-8093-F9D0-1CDBA0D3A44A}"/>
                    </a:ext>
                  </a:extLst>
                </p:cNvPr>
                <p:cNvSpPr txBox="1"/>
                <p:nvPr/>
              </p:nvSpPr>
              <p:spPr>
                <a:xfrm>
                  <a:off x="3390964" y="4483243"/>
                  <a:ext cx="1202054" cy="228600"/>
                </a:xfrm>
                <a:prstGeom prst="rect">
                  <a:avLst/>
                </a:prstGeom>
              </p:spPr>
              <p:txBody>
                <a:bodyPr vert="horz" wrap="none" lIns="91440" tIns="45720" rIns="91440" bIns="45720" rtlCol="0" anchor="ctr">
                  <a:noAutofit/>
                </a:bodyPr>
                <a:lstStyle/>
                <a:p>
                  <a:pPr marL="0" marR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4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Amazon Ember Display" panose="020F0603020204020204" pitchFamily="34" charset="0"/>
                      <a:ea typeface="Amazon Ember Display" panose="020F0603020204020204" pitchFamily="34" charset="0"/>
                      <a:cs typeface="Amazon Ember Display" panose="020F0603020204020204" pitchFamily="34" charset="0"/>
                    </a:rPr>
                    <a:t>A2A Agent</a:t>
                  </a:r>
                </a:p>
              </p:txBody>
            </p:sp>
          </p:grpSp>
          <p:grpSp>
            <p:nvGrpSpPr>
              <p:cNvPr id="102" name="Group 101">
                <a:extLst>
                  <a:ext uri="{FF2B5EF4-FFF2-40B4-BE49-F238E27FC236}">
                    <a16:creationId xmlns:a16="http://schemas.microsoft.com/office/drawing/2014/main" id="{CB5DF76B-7872-E97D-A89F-32BA7FCFE1FB}"/>
                  </a:ext>
                </a:extLst>
              </p:cNvPr>
              <p:cNvGrpSpPr/>
              <p:nvPr/>
            </p:nvGrpSpPr>
            <p:grpSpPr>
              <a:xfrm>
                <a:off x="4210023" y="4389680"/>
                <a:ext cx="1480800" cy="548640"/>
                <a:chOff x="3112218" y="5162376"/>
                <a:chExt cx="1480800" cy="646331"/>
              </a:xfrm>
            </p:grpSpPr>
            <p:sp>
              <p:nvSpPr>
                <p:cNvPr id="103" name="Rectangle: Rounded Corners 37">
                  <a:extLst>
                    <a:ext uri="{FF2B5EF4-FFF2-40B4-BE49-F238E27FC236}">
                      <a16:creationId xmlns:a16="http://schemas.microsoft.com/office/drawing/2014/main" id="{EBB68B49-D05D-C26C-35EF-989E43E79228}"/>
                    </a:ext>
                  </a:extLst>
                </p:cNvPr>
                <p:cNvSpPr/>
                <p:nvPr/>
              </p:nvSpPr>
              <p:spPr>
                <a:xfrm>
                  <a:off x="3112218" y="5162376"/>
                  <a:ext cx="1480800" cy="646331"/>
                </a:xfrm>
                <a:prstGeom prst="roundRect">
                  <a:avLst>
                    <a:gd name="adj" fmla="val 9605"/>
                  </a:avLst>
                </a:prstGeom>
                <a:gradFill flip="none" rotWithShape="1">
                  <a:gsLst>
                    <a:gs pos="3000">
                      <a:srgbClr val="41B3FF"/>
                    </a:gs>
                    <a:gs pos="80000">
                      <a:srgbClr val="AD5CFF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n w="19050" cap="flat" cmpd="sng" algn="ctr">
                  <a:noFill/>
                  <a:prstDash val="solid"/>
                  <a:miter lim="800000"/>
                </a:ln>
                <a:effectLst>
                  <a:outerShdw blurRad="228600" dist="38100" dir="2700000" algn="tl" rotWithShape="0">
                    <a:prstClr val="black">
                      <a:alpha val="25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AmazonEmberDisplay_Rg.ttf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19AF3A83-DB0B-4EDA-83F8-441D5F960E15}"/>
                    </a:ext>
                  </a:extLst>
                </p:cNvPr>
                <p:cNvSpPr txBox="1"/>
                <p:nvPr/>
              </p:nvSpPr>
              <p:spPr>
                <a:xfrm>
                  <a:off x="3327901" y="5398966"/>
                  <a:ext cx="1202054" cy="228600"/>
                </a:xfrm>
                <a:prstGeom prst="rect">
                  <a:avLst/>
                </a:prstGeom>
              </p:spPr>
              <p:txBody>
                <a:bodyPr vert="horz" wrap="none" lIns="91440" tIns="45720" rIns="91440" bIns="45720" rtlCol="0" anchor="ctr">
                  <a:noAutofit/>
                </a:bodyPr>
                <a:lstStyle/>
                <a:p>
                  <a:pPr marL="0" marR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4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Amazon Ember Display" panose="020F0603020204020204" pitchFamily="34" charset="0"/>
                      <a:ea typeface="Amazon Ember Display" panose="020F0603020204020204" pitchFamily="34" charset="0"/>
                      <a:cs typeface="Amazon Ember Display" panose="020F0603020204020204" pitchFamily="34" charset="0"/>
                    </a:rPr>
                    <a:t>MCP</a:t>
                  </a:r>
                </a:p>
              </p:txBody>
            </p:sp>
          </p:grpSp>
          <p:pic>
            <p:nvPicPr>
              <p:cNvPr id="111" name="Picture 110">
                <a:extLst>
                  <a:ext uri="{FF2B5EF4-FFF2-40B4-BE49-F238E27FC236}">
                    <a16:creationId xmlns:a16="http://schemas.microsoft.com/office/drawing/2014/main" id="{8A2AF2F4-E50B-3A55-0EEF-C4A971FBEB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295084" y="4520440"/>
                <a:ext cx="323116" cy="329213"/>
              </a:xfrm>
              <a:prstGeom prst="rect">
                <a:avLst/>
              </a:prstGeom>
            </p:spPr>
          </p:pic>
          <p:sp>
            <p:nvSpPr>
              <p:cNvPr id="114" name="Rounded Rectangle 80">
                <a:extLst>
                  <a:ext uri="{FF2B5EF4-FFF2-40B4-BE49-F238E27FC236}">
                    <a16:creationId xmlns:a16="http://schemas.microsoft.com/office/drawing/2014/main" id="{3536B1B4-B979-2DCA-AAC9-DBCC186EDCF9}"/>
                  </a:ext>
                </a:extLst>
              </p:cNvPr>
              <p:cNvSpPr/>
              <p:nvPr/>
            </p:nvSpPr>
            <p:spPr>
              <a:xfrm>
                <a:off x="5782539" y="2905243"/>
                <a:ext cx="1202054" cy="341591"/>
              </a:xfrm>
              <a:prstGeom prst="roundRect">
                <a:avLst>
                  <a:gd name="adj" fmla="val 16728"/>
                </a:avLst>
              </a:prstGeom>
              <a:solidFill>
                <a:srgbClr val="FFFFFF">
                  <a:lumMod val="75000"/>
                </a:srgbClr>
              </a:solidFill>
              <a:ln w="19050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mazon Ember Display"/>
                    <a:ea typeface="+mn-ea"/>
                    <a:cs typeface="+mn-cs"/>
                  </a:rPr>
                  <a:t>Agent Card</a:t>
                </a:r>
              </a:p>
            </p:txBody>
          </p:sp>
          <p:sp>
            <p:nvSpPr>
              <p:cNvPr id="115" name="Rounded Rectangle 80">
                <a:extLst>
                  <a:ext uri="{FF2B5EF4-FFF2-40B4-BE49-F238E27FC236}">
                    <a16:creationId xmlns:a16="http://schemas.microsoft.com/office/drawing/2014/main" id="{69705BDB-079B-5359-60B9-A8B6D548BC96}"/>
                  </a:ext>
                </a:extLst>
              </p:cNvPr>
              <p:cNvSpPr/>
              <p:nvPr/>
            </p:nvSpPr>
            <p:spPr>
              <a:xfrm>
                <a:off x="5845440" y="4505840"/>
                <a:ext cx="1202054" cy="341591"/>
              </a:xfrm>
              <a:prstGeom prst="roundRect">
                <a:avLst>
                  <a:gd name="adj" fmla="val 16728"/>
                </a:avLst>
              </a:prstGeom>
              <a:solidFill>
                <a:srgbClr val="FFFFFF">
                  <a:lumMod val="75000"/>
                </a:srgbClr>
              </a:solidFill>
              <a:ln w="19050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mazon Ember Display"/>
                    <a:ea typeface="+mn-ea"/>
                    <a:cs typeface="+mn-cs"/>
                  </a:rPr>
                  <a:t>Tool Schema</a:t>
                </a:r>
              </a:p>
            </p:txBody>
          </p:sp>
        </p:grp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DC233B04-BAA2-5B6A-E367-755EA62E9C70}"/>
                </a:ext>
              </a:extLst>
            </p:cNvPr>
            <p:cNvCxnSpPr>
              <a:cxnSpLocks/>
            </p:cNvCxnSpPr>
            <p:nvPr/>
          </p:nvCxnSpPr>
          <p:spPr>
            <a:xfrm>
              <a:off x="1181480" y="1370065"/>
              <a:ext cx="1842523" cy="0"/>
            </a:xfrm>
            <a:prstGeom prst="straightConnector1">
              <a:avLst/>
            </a:prstGeom>
            <a:ln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E9B888E3-7950-5ADC-6CF7-875E7B9A1BCE}"/>
                </a:ext>
              </a:extLst>
            </p:cNvPr>
            <p:cNvSpPr/>
            <p:nvPr/>
          </p:nvSpPr>
          <p:spPr>
            <a:xfrm>
              <a:off x="2193143" y="924318"/>
              <a:ext cx="332980" cy="323463"/>
            </a:xfrm>
            <a:prstGeom prst="ellipse">
              <a:avLst/>
            </a:prstGeom>
            <a:solidFill>
              <a:srgbClr val="00B05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kern="0" dirty="0">
                  <a:solidFill>
                    <a:srgbClr val="000000"/>
                  </a:solidFill>
                  <a:latin typeface="Amazon Ember Display"/>
                </a:rPr>
                <a:t>2</a:t>
              </a: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endParaRP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59409A57-FE63-F11B-2832-69E203FCA92C}"/>
                </a:ext>
              </a:extLst>
            </p:cNvPr>
            <p:cNvSpPr txBox="1"/>
            <p:nvPr/>
          </p:nvSpPr>
          <p:spPr>
            <a:xfrm>
              <a:off x="1047839" y="1405190"/>
              <a:ext cx="197616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rIns="0" rtlCol="0">
              <a:spAutoFit/>
            </a:bodyPr>
            <a:lstStyle/>
            <a:p>
              <a:pPr lvl="0" algn="ctr">
                <a:defRPr/>
              </a:pPr>
              <a:r>
                <a:rPr lang="en-US" sz="1400" i="1" dirty="0">
                  <a:latin typeface="Amazon Ember Display" panose="020F0603020204020204" pitchFamily="34" charset="0"/>
                  <a:ea typeface="Amazon Ember Display" panose="020F0603020204020204" pitchFamily="34" charset="0"/>
                  <a:cs typeface="Amazon Ember Display" panose="020F0603020204020204" pitchFamily="34" charset="0"/>
                </a:rPr>
                <a:t>Create and deploy </a:t>
              </a:r>
            </a:p>
            <a:p>
              <a:pPr lvl="0" algn="ctr">
                <a:defRPr/>
              </a:pPr>
              <a:r>
                <a:rPr kumimoji="0" lang="en-US" sz="1400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mazon Ember Display" panose="020F0603020204020204" pitchFamily="34" charset="0"/>
                  <a:ea typeface="Amazon Ember Display" panose="020F0603020204020204" pitchFamily="34" charset="0"/>
                  <a:cs typeface="Amazon Ember Display" panose="020F0603020204020204" pitchFamily="34" charset="0"/>
                </a:rPr>
                <a:t>A</a:t>
              </a:r>
              <a:r>
                <a:rPr lang="en-US" sz="1400" i="1" kern="0" dirty="0">
                  <a:latin typeface="Amazon Ember Display" panose="020F0603020204020204" pitchFamily="34" charset="0"/>
                  <a:ea typeface="Amazon Ember Display" panose="020F0603020204020204" pitchFamily="34" charset="0"/>
                  <a:cs typeface="Amazon Ember Display" panose="020F0603020204020204" pitchFamily="34" charset="0"/>
                </a:rPr>
                <a:t>2A Agent and MCP Servers</a:t>
              </a:r>
              <a:endParaRPr kumimoji="0" lang="en-US" sz="140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endParaRP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1862A748-7891-ECB6-B45A-CC6C005FA6ED}"/>
                </a:ext>
              </a:extLst>
            </p:cNvPr>
            <p:cNvSpPr txBox="1"/>
            <p:nvPr/>
          </p:nvSpPr>
          <p:spPr>
            <a:xfrm>
              <a:off x="7421415" y="1497923"/>
              <a:ext cx="1976164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rIns="0" rtlCol="0">
              <a:spAutoFit/>
            </a:bodyPr>
            <a:lstStyle/>
            <a:p>
              <a:pPr lvl="0" algn="ctr">
                <a:defRPr/>
              </a:pPr>
              <a:r>
                <a:rPr lang="en-US" sz="1400" i="1" dirty="0">
                  <a:latin typeface="Amazon Ember Display" panose="020F0603020204020204" pitchFamily="34" charset="0"/>
                  <a:ea typeface="Amazon Ember Display" panose="020F0603020204020204" pitchFamily="34" charset="0"/>
                  <a:cs typeface="Amazon Ember Display" panose="020F0603020204020204" pitchFamily="34" charset="0"/>
                </a:rPr>
                <a:t>Create Registry record and submit for approval</a:t>
              </a:r>
              <a:endParaRPr kumimoji="0" lang="en-US" sz="140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endParaRPr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A6C51009-9300-5AA7-0664-06A20DB46BD6}"/>
                </a:ext>
              </a:extLst>
            </p:cNvPr>
            <p:cNvSpPr/>
            <p:nvPr/>
          </p:nvSpPr>
          <p:spPr>
            <a:xfrm>
              <a:off x="8156673" y="987012"/>
              <a:ext cx="332980" cy="323463"/>
            </a:xfrm>
            <a:prstGeom prst="ellipse">
              <a:avLst/>
            </a:prstGeom>
            <a:solidFill>
              <a:srgbClr val="00B05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 Display"/>
                  <a:ea typeface="+mn-ea"/>
                  <a:cs typeface="+mn-cs"/>
                </a:rPr>
                <a:t>3</a:t>
              </a:r>
            </a:p>
          </p:txBody>
        </p:sp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AF57E2ED-C6BE-83AD-31BD-0771BFBFA844}"/>
                </a:ext>
              </a:extLst>
            </p:cNvPr>
            <p:cNvGrpSpPr/>
            <p:nvPr/>
          </p:nvGrpSpPr>
          <p:grpSpPr>
            <a:xfrm>
              <a:off x="4883394" y="6332955"/>
              <a:ext cx="1439843" cy="523219"/>
              <a:chOff x="14661314" y="8906046"/>
              <a:chExt cx="1439843" cy="523219"/>
            </a:xfrm>
          </p:grpSpPr>
          <p:pic>
            <p:nvPicPr>
              <p:cNvPr id="157" name="Graphic 22" descr="User resource icon for the General Icons category.">
                <a:extLst>
                  <a:ext uri="{FF2B5EF4-FFF2-40B4-BE49-F238E27FC236}">
                    <a16:creationId xmlns:a16="http://schemas.microsoft.com/office/drawing/2014/main" id="{FFFC0CB4-A6DF-0CB8-E737-2F7199C488B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rcRect/>
              <a:stretch/>
            </p:blipFill>
            <p:spPr bwMode="auto">
              <a:xfrm>
                <a:off x="14661314" y="8906046"/>
                <a:ext cx="523219" cy="523219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3A3E5181-BC42-C6C6-44B8-22C24B75FB3E}"/>
                  </a:ext>
                </a:extLst>
              </p:cNvPr>
              <p:cNvSpPr txBox="1"/>
              <p:nvPr/>
            </p:nvSpPr>
            <p:spPr>
              <a:xfrm>
                <a:off x="15184533" y="9091302"/>
                <a:ext cx="916624" cy="228600"/>
              </a:xfrm>
              <a:prstGeom prst="rect">
                <a:avLst/>
              </a:prstGeom>
            </p:spPr>
            <p:txBody>
              <a:bodyPr vert="horz" wrap="none" lIns="91440" tIns="45720" rIns="91440" bIns="45720" rtlCol="0" anchor="ctr">
                <a:no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mazon Ember Display" panose="020F0603020204020204" pitchFamily="34" charset="0"/>
                    <a:ea typeface="Amazon Ember Display" panose="020F0603020204020204" pitchFamily="34" charset="0"/>
                    <a:cs typeface="Amazon Ember Display" panose="020F0603020204020204" pitchFamily="34" charset="0"/>
                  </a:rPr>
                  <a:t>Consumer</a:t>
                </a:r>
              </a:p>
            </p:txBody>
          </p:sp>
        </p:grp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265C0F31-276C-EE0C-22D9-84B3069DCB55}"/>
                </a:ext>
              </a:extLst>
            </p:cNvPr>
            <p:cNvSpPr/>
            <p:nvPr/>
          </p:nvSpPr>
          <p:spPr>
            <a:xfrm>
              <a:off x="7232032" y="3855488"/>
              <a:ext cx="332980" cy="323463"/>
            </a:xfrm>
            <a:prstGeom prst="ellipse">
              <a:avLst/>
            </a:prstGeom>
            <a:solidFill>
              <a:srgbClr val="00B05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kern="0" dirty="0">
                  <a:solidFill>
                    <a:srgbClr val="000000"/>
                  </a:solidFill>
                  <a:latin typeface="Amazon Ember Display"/>
                </a:rPr>
                <a:t>5</a:t>
              </a: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5961259-15AB-7052-8935-6E8E1ABDCAB2}"/>
                </a:ext>
              </a:extLst>
            </p:cNvPr>
            <p:cNvSpPr txBox="1"/>
            <p:nvPr/>
          </p:nvSpPr>
          <p:spPr>
            <a:xfrm>
              <a:off x="7241943" y="3878890"/>
              <a:ext cx="1976164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rIns="0" rtlCol="0">
              <a:spAutoFit/>
            </a:bodyPr>
            <a:lstStyle/>
            <a:p>
              <a:pPr lvl="0" algn="ctr">
                <a:defRPr/>
              </a:pPr>
              <a:r>
                <a:rPr lang="en-US" sz="1400" i="1" dirty="0">
                  <a:latin typeface="Amazon Ember Display" panose="020F0603020204020204" pitchFamily="34" charset="0"/>
                  <a:ea typeface="Amazon Ember Display" panose="020F0603020204020204" pitchFamily="34" charset="0"/>
                  <a:cs typeface="Amazon Ember Display" panose="020F0603020204020204" pitchFamily="34" charset="0"/>
                </a:rPr>
                <a:t>Search Registry</a:t>
              </a:r>
              <a:endParaRPr kumimoji="0" lang="en-US" sz="140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endParaRP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D9FAD1D8-A76D-7C30-CA3F-A0909A7C515C}"/>
                </a:ext>
              </a:extLst>
            </p:cNvPr>
            <p:cNvCxnSpPr>
              <a:cxnSpLocks/>
            </p:cNvCxnSpPr>
            <p:nvPr/>
          </p:nvCxnSpPr>
          <p:spPr>
            <a:xfrm>
              <a:off x="6323237" y="4658800"/>
              <a:ext cx="3057971" cy="0"/>
            </a:xfrm>
            <a:prstGeom prst="straightConnector1">
              <a:avLst/>
            </a:prstGeom>
            <a:ln>
              <a:headEnd type="triangle" w="lg" len="lg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B8B7806C-E808-19B6-DB01-FEDE7E16E480}"/>
                </a:ext>
              </a:extLst>
            </p:cNvPr>
            <p:cNvSpPr/>
            <p:nvPr/>
          </p:nvSpPr>
          <p:spPr>
            <a:xfrm>
              <a:off x="7074816" y="4741801"/>
              <a:ext cx="332980" cy="323463"/>
            </a:xfrm>
            <a:prstGeom prst="ellipse">
              <a:avLst/>
            </a:prstGeom>
            <a:solidFill>
              <a:srgbClr val="00B05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kern="0" dirty="0">
                  <a:solidFill>
                    <a:srgbClr val="000000"/>
                  </a:solidFill>
                  <a:latin typeface="Amazon Ember Display"/>
                </a:rPr>
                <a:t>6</a:t>
              </a: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15CE597-C41A-E631-7C5E-47C9F2E983A7}"/>
                </a:ext>
              </a:extLst>
            </p:cNvPr>
            <p:cNvSpPr txBox="1"/>
            <p:nvPr/>
          </p:nvSpPr>
          <p:spPr>
            <a:xfrm>
              <a:off x="7091513" y="4685115"/>
              <a:ext cx="2362154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rIns="0" rtlCol="0">
              <a:spAutoFit/>
            </a:bodyPr>
            <a:lstStyle/>
            <a:p>
              <a:pPr lvl="0" algn="ctr">
                <a:defRPr/>
              </a:pPr>
              <a:r>
                <a:rPr lang="en-US" sz="1400" i="1" dirty="0">
                  <a:latin typeface="Amazon Ember Display" panose="020F0603020204020204" pitchFamily="34" charset="0"/>
                  <a:ea typeface="Amazon Ember Display" panose="020F0603020204020204" pitchFamily="34" charset="0"/>
                  <a:cs typeface="Amazon Ember Display" panose="020F0603020204020204" pitchFamily="34" charset="0"/>
                </a:rPr>
                <a:t>Auth, URI of Agent A, </a:t>
              </a:r>
            </a:p>
            <a:p>
              <a:pPr lvl="0" algn="ctr">
                <a:defRPr/>
              </a:pPr>
              <a:r>
                <a:rPr lang="en-US" sz="1400" i="1" dirty="0">
                  <a:latin typeface="Amazon Ember Display" panose="020F0603020204020204" pitchFamily="34" charset="0"/>
                  <a:ea typeface="Amazon Ember Display" panose="020F0603020204020204" pitchFamily="34" charset="0"/>
                  <a:cs typeface="Amazon Ember Display" panose="020F0603020204020204" pitchFamily="34" charset="0"/>
                </a:rPr>
                <a:t>MCP server B…</a:t>
              </a: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F049EDCF-34B4-C522-D3BC-53C22840F02A}"/>
                </a:ext>
              </a:extLst>
            </p:cNvPr>
            <p:cNvGrpSpPr/>
            <p:nvPr/>
          </p:nvGrpSpPr>
          <p:grpSpPr>
            <a:xfrm>
              <a:off x="9808541" y="6083143"/>
              <a:ext cx="1202054" cy="847976"/>
              <a:chOff x="393107" y="1428055"/>
              <a:chExt cx="1202054" cy="847976"/>
            </a:xfrm>
          </p:grpSpPr>
          <p:pic>
            <p:nvPicPr>
              <p:cNvPr id="21" name="Graphic 20" descr="Office worker male outline">
                <a:extLst>
                  <a:ext uri="{FF2B5EF4-FFF2-40B4-BE49-F238E27FC236}">
                    <a16:creationId xmlns:a16="http://schemas.microsoft.com/office/drawing/2014/main" id="{5A710D8B-EDB9-60D3-1416-1FF2571A2D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660457" y="1428055"/>
                <a:ext cx="554321" cy="554321"/>
              </a:xfrm>
              <a:prstGeom prst="rect">
                <a:avLst/>
              </a:prstGeom>
            </p:spPr>
          </p:pic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C6B4BB9-74BB-0388-E2A0-4F2B16057F12}"/>
                  </a:ext>
                </a:extLst>
              </p:cNvPr>
              <p:cNvSpPr txBox="1"/>
              <p:nvPr/>
            </p:nvSpPr>
            <p:spPr>
              <a:xfrm>
                <a:off x="393107" y="2047431"/>
                <a:ext cx="1202054" cy="228600"/>
              </a:xfrm>
              <a:prstGeom prst="rect">
                <a:avLst/>
              </a:prstGeom>
            </p:spPr>
            <p:txBody>
              <a:bodyPr vert="horz" wrap="none" lIns="91440" tIns="45720" rIns="91440" bIns="45720" rtlCol="0" anchor="ctr">
                <a:no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mazon Ember Display" panose="020F0603020204020204" pitchFamily="34" charset="0"/>
                    <a:ea typeface="Amazon Ember Display" panose="020F0603020204020204" pitchFamily="34" charset="0"/>
                    <a:cs typeface="Amazon Ember Display" panose="020F0603020204020204" pitchFamily="34" charset="0"/>
                  </a:rPr>
                  <a:t>Admin</a:t>
                </a:r>
              </a:p>
            </p:txBody>
          </p:sp>
        </p:grp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D0BCB479-3E7E-D591-A653-03FF5A54400D}"/>
                </a:ext>
              </a:extLst>
            </p:cNvPr>
            <p:cNvCxnSpPr>
              <a:cxnSpLocks/>
            </p:cNvCxnSpPr>
            <p:nvPr/>
          </p:nvCxnSpPr>
          <p:spPr>
            <a:xfrm>
              <a:off x="9958373" y="5276118"/>
              <a:ext cx="0" cy="1021054"/>
            </a:xfrm>
            <a:prstGeom prst="straightConnector1">
              <a:avLst/>
            </a:prstGeom>
            <a:ln>
              <a:headEnd type="triangle" w="lg" len="lg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0BD518F-5EED-E027-E2D8-591D3D042CBD}"/>
                </a:ext>
              </a:extLst>
            </p:cNvPr>
            <p:cNvSpPr txBox="1"/>
            <p:nvPr/>
          </p:nvSpPr>
          <p:spPr>
            <a:xfrm rot="16200000">
              <a:off x="9211924" y="5650691"/>
              <a:ext cx="957238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rIns="0" rtlCol="0">
              <a:spAutoFit/>
            </a:bodyPr>
            <a:lstStyle/>
            <a:p>
              <a:pPr lvl="0" algn="ctr">
                <a:defRPr/>
              </a:pPr>
              <a:r>
                <a:rPr lang="en-US" sz="1400" i="1" dirty="0">
                  <a:latin typeface="Amazon Ember Display" panose="020F0603020204020204" pitchFamily="34" charset="0"/>
                  <a:ea typeface="Amazon Ember Display" panose="020F0603020204020204" pitchFamily="34" charset="0"/>
                  <a:cs typeface="Amazon Ember Display" panose="020F0603020204020204" pitchFamily="34" charset="0"/>
                </a:rPr>
                <a:t>Create Registry</a:t>
              </a:r>
              <a:endParaRPr kumimoji="0" lang="en-US" sz="140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endParaRP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105BDD5D-7295-C0EA-1782-32E1D73BAC34}"/>
                </a:ext>
              </a:extLst>
            </p:cNvPr>
            <p:cNvCxnSpPr>
              <a:cxnSpLocks/>
            </p:cNvCxnSpPr>
            <p:nvPr/>
          </p:nvCxnSpPr>
          <p:spPr>
            <a:xfrm>
              <a:off x="10773508" y="5306141"/>
              <a:ext cx="0" cy="1021054"/>
            </a:xfrm>
            <a:prstGeom prst="straightConnector1">
              <a:avLst/>
            </a:prstGeom>
            <a:ln>
              <a:headEnd type="triangle" w="lg" len="lg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433B33C-8D55-4F12-8788-D967B2127FDB}"/>
                </a:ext>
              </a:extLst>
            </p:cNvPr>
            <p:cNvSpPr txBox="1"/>
            <p:nvPr/>
          </p:nvSpPr>
          <p:spPr>
            <a:xfrm rot="16200000">
              <a:off x="10550972" y="5664770"/>
              <a:ext cx="957238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rIns="0" rtlCol="0">
              <a:spAutoFit/>
            </a:bodyPr>
            <a:lstStyle/>
            <a:p>
              <a:pPr lvl="0" algn="ctr">
                <a:defRPr/>
              </a:pPr>
              <a:r>
                <a:rPr lang="en-US" sz="1400" i="1" dirty="0">
                  <a:latin typeface="Amazon Ember Display" panose="020F0603020204020204" pitchFamily="34" charset="0"/>
                  <a:ea typeface="Amazon Ember Display" panose="020F0603020204020204" pitchFamily="34" charset="0"/>
                  <a:cs typeface="Amazon Ember Display" panose="020F0603020204020204" pitchFamily="34" charset="0"/>
                </a:rPr>
                <a:t>Approve/ Reject</a:t>
              </a:r>
              <a:endParaRPr kumimoji="0" lang="en-US" sz="140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002FAC48-C368-B293-080F-8BF9EE820CDE}"/>
                </a:ext>
              </a:extLst>
            </p:cNvPr>
            <p:cNvSpPr/>
            <p:nvPr/>
          </p:nvSpPr>
          <p:spPr>
            <a:xfrm>
              <a:off x="9115620" y="5723904"/>
              <a:ext cx="315918" cy="318508"/>
            </a:xfrm>
            <a:prstGeom prst="ellipse">
              <a:avLst/>
            </a:prstGeom>
            <a:solidFill>
              <a:srgbClr val="00B05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 Display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1B80026A-FF00-14BF-0901-BBEF81ED3EFC}"/>
                </a:ext>
              </a:extLst>
            </p:cNvPr>
            <p:cNvSpPr/>
            <p:nvPr/>
          </p:nvSpPr>
          <p:spPr>
            <a:xfrm>
              <a:off x="11278715" y="5710652"/>
              <a:ext cx="378807" cy="359487"/>
            </a:xfrm>
            <a:prstGeom prst="ellipse">
              <a:avLst/>
            </a:prstGeom>
            <a:solidFill>
              <a:srgbClr val="00B05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kern="0" dirty="0">
                  <a:solidFill>
                    <a:srgbClr val="000000"/>
                  </a:solidFill>
                  <a:latin typeface="Amazon Ember Display"/>
                </a:rPr>
                <a:t>4</a:t>
              </a: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endParaRPr>
            </a:p>
          </p:txBody>
        </p: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6376B35C-07D0-BA34-804C-FB9CBFF19EF4}"/>
                </a:ext>
              </a:extLst>
            </p:cNvPr>
            <p:cNvCxnSpPr>
              <a:cxnSpLocks/>
            </p:cNvCxnSpPr>
            <p:nvPr/>
          </p:nvCxnSpPr>
          <p:spPr>
            <a:xfrm>
              <a:off x="6268848" y="4259468"/>
              <a:ext cx="3128731" cy="0"/>
            </a:xfrm>
            <a:prstGeom prst="straightConnector1">
              <a:avLst/>
            </a:prstGeom>
            <a:ln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" name="Straight Arrow Connector 1">
              <a:extLst>
                <a:ext uri="{FF2B5EF4-FFF2-40B4-BE49-F238E27FC236}">
                  <a16:creationId xmlns:a16="http://schemas.microsoft.com/office/drawing/2014/main" id="{488FCDE2-A7CB-6932-32FD-62E71F03102A}"/>
                </a:ext>
              </a:extLst>
            </p:cNvPr>
            <p:cNvCxnSpPr>
              <a:cxnSpLocks/>
            </p:cNvCxnSpPr>
            <p:nvPr/>
          </p:nvCxnSpPr>
          <p:spPr>
            <a:xfrm>
              <a:off x="7387188" y="1396173"/>
              <a:ext cx="2011163" cy="0"/>
            </a:xfrm>
            <a:prstGeom prst="straightConnector1">
              <a:avLst/>
            </a:prstGeom>
            <a:ln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1DD237C-0AAC-29AA-3380-58E282A4B15C}"/>
                </a:ext>
              </a:extLst>
            </p:cNvPr>
            <p:cNvSpPr txBox="1"/>
            <p:nvPr/>
          </p:nvSpPr>
          <p:spPr>
            <a:xfrm>
              <a:off x="375220" y="162096"/>
              <a:ext cx="256032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rIns="0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mazon Ember Display" panose="020F0603020204020204" pitchFamily="34" charset="0"/>
                  <a:ea typeface="Amazon Ember Display" panose="020F0603020204020204" pitchFamily="34" charset="0"/>
                  <a:cs typeface="Amazon Ember Display" panose="020F0603020204020204" pitchFamily="34" charset="0"/>
                </a:rPr>
                <a:t>Publisher flow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BB33884-BB42-9C5D-5A2A-3BE22F9070D0}"/>
                </a:ext>
              </a:extLst>
            </p:cNvPr>
            <p:cNvSpPr txBox="1"/>
            <p:nvPr/>
          </p:nvSpPr>
          <p:spPr>
            <a:xfrm>
              <a:off x="2446084" y="6325376"/>
              <a:ext cx="265176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rIns="0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mazon Ember Display" panose="020F0603020204020204" pitchFamily="34" charset="0"/>
                  <a:ea typeface="Amazon Ember Display" panose="020F0603020204020204" pitchFamily="34" charset="0"/>
                  <a:cs typeface="Amazon Ember Display" panose="020F0603020204020204" pitchFamily="34" charset="0"/>
                </a:rPr>
                <a:t>Consumer flow</a:t>
              </a: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440DE103-6F09-7BB4-2D14-1CD07B52681C}"/>
              </a:ext>
            </a:extLst>
          </p:cNvPr>
          <p:cNvSpPr txBox="1"/>
          <p:nvPr/>
        </p:nvSpPr>
        <p:spPr>
          <a:xfrm>
            <a:off x="3191208" y="3714881"/>
            <a:ext cx="2110945" cy="307777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>
            <a:spAutoFit/>
          </a:bodyPr>
          <a:lstStyle/>
          <a:p>
            <a:pPr lvl="0" algn="ctr">
              <a:defRPr/>
            </a:pPr>
            <a:r>
              <a:rPr lang="en-US" sz="1400" dirty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Local  Environment</a:t>
            </a:r>
            <a:endParaRPr kumimoji="0" lang="en-US" sz="14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mazon Ember Display" panose="020F0603020204020204" pitchFamily="34" charset="0"/>
              <a:ea typeface="Amazon Ember Display" panose="020F0603020204020204" pitchFamily="34" charset="0"/>
              <a:cs typeface="Amazon Ember Display" panose="020F0603020204020204" pitchFamily="34" charset="0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47872185-C22E-0015-7867-782425EC8B6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8776" y="4058440"/>
            <a:ext cx="626695" cy="626695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CABFBD9F-7882-BD73-7F73-54848F18AB2E}"/>
              </a:ext>
            </a:extLst>
          </p:cNvPr>
          <p:cNvSpPr txBox="1"/>
          <p:nvPr/>
        </p:nvSpPr>
        <p:spPr>
          <a:xfrm>
            <a:off x="4885356" y="4685135"/>
            <a:ext cx="2110945" cy="307777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>
            <a:spAutoFit/>
          </a:bodyPr>
          <a:lstStyle/>
          <a:p>
            <a:pPr lvl="0" algn="ctr">
              <a:defRPr/>
            </a:pPr>
            <a:r>
              <a:rPr lang="en-US" sz="1400" dirty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Planner Agent</a:t>
            </a:r>
            <a:endParaRPr kumimoji="0" lang="en-US" sz="14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mazon Ember Display" panose="020F0603020204020204" pitchFamily="34" charset="0"/>
              <a:ea typeface="Amazon Ember Display" panose="020F0603020204020204" pitchFamily="34" charset="0"/>
              <a:cs typeface="Amazon Ember Display" panose="020F0603020204020204" pitchFamily="34" charset="0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826C6F16-C48B-6779-C1ED-FBC05D31044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8792" y="4058440"/>
            <a:ext cx="626695" cy="626695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1F51FEF5-F541-F820-5E1C-D63EE59C5C7E}"/>
              </a:ext>
            </a:extLst>
          </p:cNvPr>
          <p:cNvSpPr txBox="1"/>
          <p:nvPr/>
        </p:nvSpPr>
        <p:spPr>
          <a:xfrm>
            <a:off x="3314571" y="4689029"/>
            <a:ext cx="2110945" cy="307777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>
            <a:spAutoFit/>
          </a:bodyPr>
          <a:lstStyle/>
          <a:p>
            <a:pPr lvl="0" algn="ctr">
              <a:defRPr/>
            </a:pPr>
            <a:r>
              <a:rPr lang="en-US" sz="1400" dirty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Executor Agent</a:t>
            </a:r>
            <a:endParaRPr kumimoji="0" lang="en-US" sz="14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mazon Ember Display" panose="020F0603020204020204" pitchFamily="34" charset="0"/>
              <a:ea typeface="Amazon Ember Display" panose="020F0603020204020204" pitchFamily="34" charset="0"/>
              <a:cs typeface="Amazon Ember Display" panose="020F060302020402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819FA82-49F3-1902-5BFD-B6637EE19225}"/>
              </a:ext>
            </a:extLst>
          </p:cNvPr>
          <p:cNvSpPr/>
          <p:nvPr/>
        </p:nvSpPr>
        <p:spPr>
          <a:xfrm>
            <a:off x="3546727" y="2036575"/>
            <a:ext cx="3269512" cy="1250030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" name="Graphic 45">
            <a:extLst>
              <a:ext uri="{FF2B5EF4-FFF2-40B4-BE49-F238E27FC236}">
                <a16:creationId xmlns:a16="http://schemas.microsoft.com/office/drawing/2014/main" id="{95BC1933-7F3E-41A8-00F3-2CFD5CD427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570236" y="2081907"/>
            <a:ext cx="578650" cy="501891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C7DDDC31-8303-34BC-FC15-AB3B4E5C6DA5}"/>
              </a:ext>
            </a:extLst>
          </p:cNvPr>
          <p:cNvSpPr txBox="1"/>
          <p:nvPr/>
        </p:nvSpPr>
        <p:spPr>
          <a:xfrm>
            <a:off x="4102413" y="2157494"/>
            <a:ext cx="2110945" cy="307777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>
            <a:spAutoFit/>
          </a:bodyPr>
          <a:lstStyle/>
          <a:p>
            <a:pPr lvl="0" algn="ctr">
              <a:defRPr/>
            </a:pPr>
            <a:r>
              <a:rPr lang="en-US" sz="1400" dirty="0" err="1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AgentCore</a:t>
            </a:r>
            <a:r>
              <a:rPr lang="en-US" sz="1400" dirty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 Gateway</a:t>
            </a:r>
            <a:endParaRPr kumimoji="0" lang="en-US" sz="14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mazon Ember Display" panose="020F0603020204020204" pitchFamily="34" charset="0"/>
              <a:ea typeface="Amazon Ember Display" panose="020F0603020204020204" pitchFamily="34" charset="0"/>
              <a:cs typeface="Amazon Ember Display" panose="020F0603020204020204" pitchFamily="34" charset="0"/>
            </a:endParaRPr>
          </a:p>
        </p:txBody>
      </p:sp>
      <p:cxnSp>
        <p:nvCxnSpPr>
          <p:cNvPr id="61" name="Elbow Connector 60">
            <a:extLst>
              <a:ext uri="{FF2B5EF4-FFF2-40B4-BE49-F238E27FC236}">
                <a16:creationId xmlns:a16="http://schemas.microsoft.com/office/drawing/2014/main" id="{1FBE01E0-8B9B-007F-8C45-D33289B68BCB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965017" y="5288385"/>
            <a:ext cx="1218245" cy="653093"/>
          </a:xfrm>
          <a:prstGeom prst="bentConnector3">
            <a:avLst>
              <a:gd name="adj1" fmla="val 50000"/>
            </a:avLst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Elbow Connector 65">
            <a:extLst>
              <a:ext uri="{FF2B5EF4-FFF2-40B4-BE49-F238E27FC236}">
                <a16:creationId xmlns:a16="http://schemas.microsoft.com/office/drawing/2014/main" id="{9C6AB48D-FA00-BEB8-FE84-336470F33B85}"/>
              </a:ext>
            </a:extLst>
          </p:cNvPr>
          <p:cNvCxnSpPr>
            <a:cxnSpLocks/>
            <a:stCxn id="41" idx="2"/>
          </p:cNvCxnSpPr>
          <p:nvPr/>
        </p:nvCxnSpPr>
        <p:spPr>
          <a:xfrm rot="16200000" flipH="1">
            <a:off x="4046269" y="5320581"/>
            <a:ext cx="1272005" cy="624454"/>
          </a:xfrm>
          <a:prstGeom prst="bentConnector3">
            <a:avLst>
              <a:gd name="adj1" fmla="val 45833"/>
            </a:avLst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ED7773CB-0ED3-5B40-B8EA-BCD3DD548E0C}"/>
              </a:ext>
            </a:extLst>
          </p:cNvPr>
          <p:cNvCxnSpPr>
            <a:cxnSpLocks/>
            <a:stCxn id="37" idx="1"/>
            <a:endCxn id="40" idx="3"/>
          </p:cNvCxnSpPr>
          <p:nvPr/>
        </p:nvCxnSpPr>
        <p:spPr>
          <a:xfrm flipH="1">
            <a:off x="4625487" y="4371788"/>
            <a:ext cx="953289" cy="0"/>
          </a:xfrm>
          <a:prstGeom prst="straightConnector1">
            <a:avLst/>
          </a:prstGeom>
          <a:ln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48B98AA0-E28F-BA32-1904-6D3BDD11EB6F}"/>
              </a:ext>
            </a:extLst>
          </p:cNvPr>
          <p:cNvSpPr txBox="1"/>
          <p:nvPr/>
        </p:nvSpPr>
        <p:spPr>
          <a:xfrm>
            <a:off x="4919154" y="5614648"/>
            <a:ext cx="1976164" cy="307777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>
            <a:spAutoFit/>
          </a:bodyPr>
          <a:lstStyle/>
          <a:p>
            <a:pPr lvl="0" algn="ctr">
              <a:defRPr/>
            </a:pPr>
            <a:r>
              <a:rPr lang="en-US" sz="1400" i="1" dirty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Request</a:t>
            </a:r>
            <a:endParaRPr kumimoji="0" lang="en-US" sz="1400" i="1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mazon Ember Display" panose="020F0603020204020204" pitchFamily="34" charset="0"/>
              <a:ea typeface="Amazon Ember Display" panose="020F0603020204020204" pitchFamily="34" charset="0"/>
              <a:cs typeface="Amazon Ember Display" panose="020F0603020204020204" pitchFamily="34" charset="0"/>
            </a:endParaRPr>
          </a:p>
        </p:txBody>
      </p:sp>
      <p:cxnSp>
        <p:nvCxnSpPr>
          <p:cNvPr id="124" name="Elbow Connector 123">
            <a:extLst>
              <a:ext uri="{FF2B5EF4-FFF2-40B4-BE49-F238E27FC236}">
                <a16:creationId xmlns:a16="http://schemas.microsoft.com/office/drawing/2014/main" id="{5C67A88F-4702-689C-F6FA-50299EE68171}"/>
              </a:ext>
            </a:extLst>
          </p:cNvPr>
          <p:cNvCxnSpPr>
            <a:cxnSpLocks/>
            <a:stCxn id="40" idx="1"/>
            <a:endCxn id="174" idx="1"/>
          </p:cNvCxnSpPr>
          <p:nvPr/>
        </p:nvCxnSpPr>
        <p:spPr>
          <a:xfrm rot="10800000">
            <a:off x="3357470" y="1806654"/>
            <a:ext cx="641323" cy="2565134"/>
          </a:xfrm>
          <a:prstGeom prst="bentConnector3">
            <a:avLst>
              <a:gd name="adj1" fmla="val 135645"/>
            </a:avLst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TextBox 161">
            <a:extLst>
              <a:ext uri="{FF2B5EF4-FFF2-40B4-BE49-F238E27FC236}">
                <a16:creationId xmlns:a16="http://schemas.microsoft.com/office/drawing/2014/main" id="{F81CB814-06F3-E559-3C98-CEA25B42ED54}"/>
              </a:ext>
            </a:extLst>
          </p:cNvPr>
          <p:cNvSpPr txBox="1"/>
          <p:nvPr/>
        </p:nvSpPr>
        <p:spPr>
          <a:xfrm>
            <a:off x="3564751" y="5608385"/>
            <a:ext cx="1976164" cy="307777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>
            <a:spAutoFit/>
          </a:bodyPr>
          <a:lstStyle/>
          <a:p>
            <a:pPr lvl="0" algn="ctr">
              <a:defRPr/>
            </a:pPr>
            <a:r>
              <a:rPr lang="en-US" sz="1400" i="1" dirty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Response</a:t>
            </a:r>
            <a:endParaRPr kumimoji="0" lang="en-US" sz="1400" i="1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mazon Ember Display" panose="020F0603020204020204" pitchFamily="34" charset="0"/>
              <a:ea typeface="Amazon Ember Display" panose="020F0603020204020204" pitchFamily="34" charset="0"/>
              <a:cs typeface="Amazon Ember Display" panose="020F0603020204020204" pitchFamily="34" charset="0"/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1E5874A3-A520-F800-7C46-0B00365609AC}"/>
              </a:ext>
            </a:extLst>
          </p:cNvPr>
          <p:cNvSpPr/>
          <p:nvPr/>
        </p:nvSpPr>
        <p:spPr>
          <a:xfrm>
            <a:off x="3308362" y="3594381"/>
            <a:ext cx="3647000" cy="24156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07CFCB77-4386-D174-E89B-1C053161398B}"/>
              </a:ext>
            </a:extLst>
          </p:cNvPr>
          <p:cNvSpPr/>
          <p:nvPr/>
        </p:nvSpPr>
        <p:spPr>
          <a:xfrm>
            <a:off x="3357469" y="184307"/>
            <a:ext cx="4034006" cy="324469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8EF9A43C-7663-18AC-8E3C-D30DB54404EE}"/>
              </a:ext>
            </a:extLst>
          </p:cNvPr>
          <p:cNvSpPr txBox="1"/>
          <p:nvPr/>
        </p:nvSpPr>
        <p:spPr>
          <a:xfrm rot="16200000">
            <a:off x="1744370" y="3006300"/>
            <a:ext cx="1976164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>
            <a:spAutoFit/>
          </a:bodyPr>
          <a:lstStyle/>
          <a:p>
            <a:pPr lvl="0" algn="ctr">
              <a:defRPr/>
            </a:pPr>
            <a:r>
              <a:rPr lang="en-US" sz="1400" i="1" dirty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Execute MCP tools </a:t>
            </a:r>
          </a:p>
          <a:p>
            <a:pPr lvl="0" algn="ctr">
              <a:defRPr/>
            </a:pPr>
            <a:r>
              <a:rPr kumimoji="0" lang="en-US" sz="140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And A2A Agents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A5A3A504-D1EF-F8E1-4728-A2D1B356F797}"/>
              </a:ext>
            </a:extLst>
          </p:cNvPr>
          <p:cNvSpPr txBox="1"/>
          <p:nvPr/>
        </p:nvSpPr>
        <p:spPr>
          <a:xfrm>
            <a:off x="7685774" y="6404488"/>
            <a:ext cx="2651760" cy="369332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Admin flow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FEAB2BEA-94A8-CC23-7821-55644E5323A8}"/>
              </a:ext>
            </a:extLst>
          </p:cNvPr>
          <p:cNvSpPr txBox="1"/>
          <p:nvPr/>
        </p:nvSpPr>
        <p:spPr>
          <a:xfrm>
            <a:off x="4158341" y="4096810"/>
            <a:ext cx="1976164" cy="52322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>
            <a:spAutoFit/>
          </a:bodyPr>
          <a:lstStyle/>
          <a:p>
            <a:pPr lvl="0" algn="ctr">
              <a:defRPr/>
            </a:pPr>
            <a:r>
              <a:rPr lang="en-US" sz="1400" i="1" dirty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Plan </a:t>
            </a:r>
          </a:p>
          <a:p>
            <a:pPr lvl="0" algn="ctr">
              <a:defRPr/>
            </a:pPr>
            <a:r>
              <a:rPr lang="en-US" sz="1400" i="1" dirty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and tools</a:t>
            </a:r>
            <a:endParaRPr kumimoji="0" lang="en-US" sz="1400" i="1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mazon Ember Display" panose="020F0603020204020204" pitchFamily="34" charset="0"/>
              <a:ea typeface="Amazon Ember Display" panose="020F0603020204020204" pitchFamily="34" charset="0"/>
              <a:cs typeface="Amazon Ember Display" panose="020F0603020204020204" pitchFamily="34" charset="0"/>
            </a:endParaRPr>
          </a:p>
        </p:txBody>
      </p:sp>
      <p:pic>
        <p:nvPicPr>
          <p:cNvPr id="187" name="Graphic 186">
            <a:extLst>
              <a:ext uri="{FF2B5EF4-FFF2-40B4-BE49-F238E27FC236}">
                <a16:creationId xmlns:a16="http://schemas.microsoft.com/office/drawing/2014/main" id="{AB609865-D412-AC75-09D4-2505EDF2D9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829058" y="188507"/>
            <a:ext cx="572470" cy="555122"/>
          </a:xfrm>
          <a:prstGeom prst="rect">
            <a:avLst/>
          </a:prstGeom>
        </p:spPr>
      </p:pic>
      <p:sp>
        <p:nvSpPr>
          <p:cNvPr id="188" name="TextBox 187">
            <a:extLst>
              <a:ext uri="{FF2B5EF4-FFF2-40B4-BE49-F238E27FC236}">
                <a16:creationId xmlns:a16="http://schemas.microsoft.com/office/drawing/2014/main" id="{33931703-04B8-FB91-1CC1-63330C70AD29}"/>
              </a:ext>
            </a:extLst>
          </p:cNvPr>
          <p:cNvSpPr txBox="1"/>
          <p:nvPr/>
        </p:nvSpPr>
        <p:spPr>
          <a:xfrm rot="16200000">
            <a:off x="6093509" y="1427400"/>
            <a:ext cx="2110945" cy="307777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>
            <a:spAutoFit/>
          </a:bodyPr>
          <a:lstStyle/>
          <a:p>
            <a:pPr lvl="0" algn="ctr">
              <a:defRPr/>
            </a:pPr>
            <a:r>
              <a:rPr lang="en-US" sz="1400" dirty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Amazon </a:t>
            </a:r>
            <a:r>
              <a:rPr lang="en-US" sz="1400" dirty="0" err="1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AgentCore</a:t>
            </a:r>
            <a:endParaRPr kumimoji="0" lang="en-US" sz="14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mazon Ember Display" panose="020F0603020204020204" pitchFamily="34" charset="0"/>
              <a:ea typeface="Amazon Ember Display" panose="020F0603020204020204" pitchFamily="34" charset="0"/>
              <a:cs typeface="Amazon Ember Display" panose="020F06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7730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72C44-23BF-54C9-A27D-AD1067738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7" name="Group 276">
            <a:extLst>
              <a:ext uri="{FF2B5EF4-FFF2-40B4-BE49-F238E27FC236}">
                <a16:creationId xmlns:a16="http://schemas.microsoft.com/office/drawing/2014/main" id="{B13AD04F-9F76-F40E-EC65-C615D2ECBE73}"/>
              </a:ext>
            </a:extLst>
          </p:cNvPr>
          <p:cNvGrpSpPr/>
          <p:nvPr/>
        </p:nvGrpSpPr>
        <p:grpSpPr>
          <a:xfrm>
            <a:off x="-83351" y="85896"/>
            <a:ext cx="12310074" cy="6832283"/>
            <a:chOff x="-83351" y="85896"/>
            <a:chExt cx="12310074" cy="6832283"/>
          </a:xfrm>
        </p:grpSpPr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CA712D0B-4CFB-1188-575D-E08DDCEB390C}"/>
                </a:ext>
              </a:extLst>
            </p:cNvPr>
            <p:cNvGrpSpPr/>
            <p:nvPr/>
          </p:nvGrpSpPr>
          <p:grpSpPr>
            <a:xfrm>
              <a:off x="111227" y="1178140"/>
              <a:ext cx="1202054" cy="886333"/>
              <a:chOff x="317554" y="2439728"/>
              <a:chExt cx="1202054" cy="886333"/>
            </a:xfrm>
          </p:grpSpPr>
          <p:grpSp>
            <p:nvGrpSpPr>
              <p:cNvPr id="173" name="Group 172">
                <a:extLst>
                  <a:ext uri="{FF2B5EF4-FFF2-40B4-BE49-F238E27FC236}">
                    <a16:creationId xmlns:a16="http://schemas.microsoft.com/office/drawing/2014/main" id="{02A90B6A-878E-41BE-3155-C9317C5E36F6}"/>
                  </a:ext>
                </a:extLst>
              </p:cNvPr>
              <p:cNvGrpSpPr/>
              <p:nvPr/>
            </p:nvGrpSpPr>
            <p:grpSpPr>
              <a:xfrm>
                <a:off x="724921" y="2439728"/>
                <a:ext cx="557784" cy="557784"/>
                <a:chOff x="5872152" y="185257"/>
                <a:chExt cx="927581" cy="645686"/>
              </a:xfrm>
            </p:grpSpPr>
            <p:sp>
              <p:nvSpPr>
                <p:cNvPr id="175" name="Freeform: Shape 43">
                  <a:extLst>
                    <a:ext uri="{FF2B5EF4-FFF2-40B4-BE49-F238E27FC236}">
                      <a16:creationId xmlns:a16="http://schemas.microsoft.com/office/drawing/2014/main" id="{3641A491-27F1-B7EE-06A6-E02C6B0BD6DD}"/>
                    </a:ext>
                  </a:extLst>
                </p:cNvPr>
                <p:cNvSpPr/>
                <p:nvPr/>
              </p:nvSpPr>
              <p:spPr>
                <a:xfrm>
                  <a:off x="5961716" y="185257"/>
                  <a:ext cx="254169" cy="254169"/>
                </a:xfrm>
                <a:custGeom>
                  <a:avLst/>
                  <a:gdLst>
                    <a:gd name="connsiteX0" fmla="*/ 4828 w 135174"/>
                    <a:gd name="connsiteY0" fmla="*/ 67909 h 135174"/>
                    <a:gd name="connsiteX1" fmla="*/ 67909 w 135174"/>
                    <a:gd name="connsiteY1" fmla="*/ 4828 h 135174"/>
                    <a:gd name="connsiteX2" fmla="*/ 130991 w 135174"/>
                    <a:gd name="connsiteY2" fmla="*/ 67909 h 135174"/>
                    <a:gd name="connsiteX3" fmla="*/ 67909 w 135174"/>
                    <a:gd name="connsiteY3" fmla="*/ 130991 h 135174"/>
                    <a:gd name="connsiteX4" fmla="*/ 4828 w 135174"/>
                    <a:gd name="connsiteY4" fmla="*/ 67909 h 1351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5174" h="135174">
                      <a:moveTo>
                        <a:pt x="4828" y="67909"/>
                      </a:moveTo>
                      <a:cubicBezTo>
                        <a:pt x="4828" y="33150"/>
                        <a:pt x="33150" y="4828"/>
                        <a:pt x="67909" y="4828"/>
                      </a:cubicBezTo>
                      <a:cubicBezTo>
                        <a:pt x="102668" y="4828"/>
                        <a:pt x="130991" y="33150"/>
                        <a:pt x="130991" y="67909"/>
                      </a:cubicBezTo>
                      <a:cubicBezTo>
                        <a:pt x="130991" y="102668"/>
                        <a:pt x="102668" y="130991"/>
                        <a:pt x="67909" y="130991"/>
                      </a:cubicBezTo>
                      <a:cubicBezTo>
                        <a:pt x="33150" y="130991"/>
                        <a:pt x="4828" y="102668"/>
                        <a:pt x="4828" y="67909"/>
                      </a:cubicBezTo>
                    </a:path>
                  </a:pathLst>
                </a:custGeom>
                <a:noFill/>
                <a:ln w="19050" cap="flat">
                  <a:solidFill>
                    <a:srgbClr val="AD5CFF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Amazon Ember Display"/>
                  </a:endParaRPr>
                </a:p>
              </p:txBody>
            </p:sp>
            <p:sp>
              <p:nvSpPr>
                <p:cNvPr id="176" name="Freeform: Shape 49">
                  <a:extLst>
                    <a:ext uri="{FF2B5EF4-FFF2-40B4-BE49-F238E27FC236}">
                      <a16:creationId xmlns:a16="http://schemas.microsoft.com/office/drawing/2014/main" id="{1CDC0C27-A471-EC2B-6E5C-76FDE47673B9}"/>
                    </a:ext>
                  </a:extLst>
                </p:cNvPr>
                <p:cNvSpPr/>
                <p:nvPr/>
              </p:nvSpPr>
              <p:spPr>
                <a:xfrm>
                  <a:off x="5872152" y="429652"/>
                  <a:ext cx="338891" cy="229962"/>
                </a:xfrm>
                <a:custGeom>
                  <a:avLst/>
                  <a:gdLst>
                    <a:gd name="connsiteX0" fmla="*/ 175083 w 180232"/>
                    <a:gd name="connsiteY0" fmla="*/ 119452 h 122300"/>
                    <a:gd name="connsiteX1" fmla="*/ 4828 w 180232"/>
                    <a:gd name="connsiteY1" fmla="*/ 120096 h 122300"/>
                    <a:gd name="connsiteX2" fmla="*/ 117795 w 180232"/>
                    <a:gd name="connsiteY2" fmla="*/ 4876 h 122300"/>
                    <a:gd name="connsiteX3" fmla="*/ 176693 w 180232"/>
                    <a:gd name="connsiteY3" fmla="*/ 23543 h 122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0232" h="122300">
                      <a:moveTo>
                        <a:pt x="175083" y="119452"/>
                      </a:moveTo>
                      <a:lnTo>
                        <a:pt x="4828" y="120096"/>
                      </a:lnTo>
                      <a:cubicBezTo>
                        <a:pt x="11908" y="3267"/>
                        <a:pt x="117795" y="4876"/>
                        <a:pt x="117795" y="4876"/>
                      </a:cubicBezTo>
                      <a:cubicBezTo>
                        <a:pt x="117795" y="4876"/>
                        <a:pt x="147727" y="2945"/>
                        <a:pt x="176693" y="23543"/>
                      </a:cubicBezTo>
                    </a:path>
                  </a:pathLst>
                </a:custGeom>
                <a:noFill/>
                <a:ln w="19050" cap="flat">
                  <a:solidFill>
                    <a:srgbClr val="AD5CFF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Amazon Ember Display"/>
                  </a:endParaRPr>
                </a:p>
              </p:txBody>
            </p:sp>
            <p:grpSp>
              <p:nvGrpSpPr>
                <p:cNvPr id="177" name="Group 176">
                  <a:extLst>
                    <a:ext uri="{FF2B5EF4-FFF2-40B4-BE49-F238E27FC236}">
                      <a16:creationId xmlns:a16="http://schemas.microsoft.com/office/drawing/2014/main" id="{667464EC-B892-30DA-40DC-774AEAE42EA6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6194204" y="415150"/>
                  <a:ext cx="605529" cy="415793"/>
                  <a:chOff x="8047698" y="1709044"/>
                  <a:chExt cx="482767" cy="331500"/>
                </a:xfrm>
              </p:grpSpPr>
              <p:sp>
                <p:nvSpPr>
                  <p:cNvPr id="178" name="Freeform: Shape 51">
                    <a:extLst>
                      <a:ext uri="{FF2B5EF4-FFF2-40B4-BE49-F238E27FC236}">
                        <a16:creationId xmlns:a16="http://schemas.microsoft.com/office/drawing/2014/main" id="{9DDD142A-A6AE-E424-05A2-228FB7A8F92F}"/>
                      </a:ext>
                    </a:extLst>
                  </p:cNvPr>
                  <p:cNvSpPr/>
                  <p:nvPr/>
                </p:nvSpPr>
                <p:spPr>
                  <a:xfrm>
                    <a:off x="8047698" y="1998704"/>
                    <a:ext cx="482767" cy="41840"/>
                  </a:xfrm>
                  <a:custGeom>
                    <a:avLst/>
                    <a:gdLst>
                      <a:gd name="connsiteX0" fmla="*/ 4828 w 482766"/>
                      <a:gd name="connsiteY0" fmla="*/ 4828 h 41839"/>
                      <a:gd name="connsiteX1" fmla="*/ 4828 w 482766"/>
                      <a:gd name="connsiteY1" fmla="*/ 28322 h 41839"/>
                      <a:gd name="connsiteX2" fmla="*/ 6437 w 482766"/>
                      <a:gd name="connsiteY2" fmla="*/ 29610 h 41839"/>
                      <a:gd name="connsiteX3" fmla="*/ 32828 w 482766"/>
                      <a:gd name="connsiteY3" fmla="*/ 38621 h 41839"/>
                      <a:gd name="connsiteX4" fmla="*/ 455410 w 482766"/>
                      <a:gd name="connsiteY4" fmla="*/ 38621 h 41839"/>
                      <a:gd name="connsiteX5" fmla="*/ 477295 w 482766"/>
                      <a:gd name="connsiteY5" fmla="*/ 30897 h 41839"/>
                      <a:gd name="connsiteX6" fmla="*/ 480192 w 482766"/>
                      <a:gd name="connsiteY6" fmla="*/ 28322 h 41839"/>
                      <a:gd name="connsiteX7" fmla="*/ 480192 w 482766"/>
                      <a:gd name="connsiteY7" fmla="*/ 4828 h 41839"/>
                      <a:gd name="connsiteX8" fmla="*/ 4828 w 482766"/>
                      <a:gd name="connsiteY8" fmla="*/ 4828 h 4183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482766" h="41839">
                        <a:moveTo>
                          <a:pt x="4828" y="4828"/>
                        </a:moveTo>
                        <a:lnTo>
                          <a:pt x="4828" y="28322"/>
                        </a:lnTo>
                        <a:lnTo>
                          <a:pt x="6437" y="29610"/>
                        </a:lnTo>
                        <a:cubicBezTo>
                          <a:pt x="14161" y="35403"/>
                          <a:pt x="23495" y="38621"/>
                          <a:pt x="32828" y="38621"/>
                        </a:cubicBezTo>
                        <a:lnTo>
                          <a:pt x="455410" y="38621"/>
                        </a:lnTo>
                        <a:cubicBezTo>
                          <a:pt x="463456" y="38621"/>
                          <a:pt x="471180" y="36047"/>
                          <a:pt x="477295" y="30897"/>
                        </a:cubicBezTo>
                        <a:lnTo>
                          <a:pt x="480192" y="28322"/>
                        </a:lnTo>
                        <a:lnTo>
                          <a:pt x="480192" y="4828"/>
                        </a:lnTo>
                        <a:lnTo>
                          <a:pt x="4828" y="4828"/>
                        </a:lnTo>
                        <a:close/>
                      </a:path>
                    </a:pathLst>
                  </a:custGeom>
                  <a:noFill/>
                  <a:ln w="19050" cap="flat">
                    <a:solidFill>
                      <a:srgbClr val="FFFFFF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Amazon Ember Display"/>
                    </a:endParaRPr>
                  </a:p>
                </p:txBody>
              </p:sp>
              <p:sp>
                <p:nvSpPr>
                  <p:cNvPr id="179" name="Freeform: Shape 52">
                    <a:extLst>
                      <a:ext uri="{FF2B5EF4-FFF2-40B4-BE49-F238E27FC236}">
                        <a16:creationId xmlns:a16="http://schemas.microsoft.com/office/drawing/2014/main" id="{D5EFA70F-27E5-A218-77CF-85F05D6707A7}"/>
                      </a:ext>
                    </a:extLst>
                  </p:cNvPr>
                  <p:cNvSpPr/>
                  <p:nvPr/>
                </p:nvSpPr>
                <p:spPr>
                  <a:xfrm>
                    <a:off x="8113998" y="1731251"/>
                    <a:ext cx="354029" cy="244602"/>
                  </a:xfrm>
                  <a:custGeom>
                    <a:avLst/>
                    <a:gdLst>
                      <a:gd name="connsiteX0" fmla="*/ 351776 w 354028"/>
                      <a:gd name="connsiteY0" fmla="*/ 233337 h 244601"/>
                      <a:gd name="connsiteX1" fmla="*/ 342121 w 354028"/>
                      <a:gd name="connsiteY1" fmla="*/ 242993 h 244601"/>
                      <a:gd name="connsiteX2" fmla="*/ 14483 w 354028"/>
                      <a:gd name="connsiteY2" fmla="*/ 242993 h 244601"/>
                      <a:gd name="connsiteX3" fmla="*/ 4828 w 354028"/>
                      <a:gd name="connsiteY3" fmla="*/ 233337 h 244601"/>
                      <a:gd name="connsiteX4" fmla="*/ 4828 w 354028"/>
                      <a:gd name="connsiteY4" fmla="*/ 14483 h 244601"/>
                      <a:gd name="connsiteX5" fmla="*/ 14483 w 354028"/>
                      <a:gd name="connsiteY5" fmla="*/ 4828 h 244601"/>
                      <a:gd name="connsiteX6" fmla="*/ 340190 w 354028"/>
                      <a:gd name="connsiteY6" fmla="*/ 4828 h 244601"/>
                      <a:gd name="connsiteX7" fmla="*/ 349845 w 354028"/>
                      <a:gd name="connsiteY7" fmla="*/ 14483 h 244601"/>
                      <a:gd name="connsiteX8" fmla="*/ 351776 w 354028"/>
                      <a:gd name="connsiteY8" fmla="*/ 233337 h 2446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354028" h="244601">
                        <a:moveTo>
                          <a:pt x="351776" y="233337"/>
                        </a:moveTo>
                        <a:cubicBezTo>
                          <a:pt x="351776" y="238487"/>
                          <a:pt x="347592" y="242993"/>
                          <a:pt x="342121" y="242993"/>
                        </a:cubicBezTo>
                        <a:lnTo>
                          <a:pt x="14483" y="242993"/>
                        </a:lnTo>
                        <a:cubicBezTo>
                          <a:pt x="9333" y="242993"/>
                          <a:pt x="4828" y="238809"/>
                          <a:pt x="4828" y="233337"/>
                        </a:cubicBezTo>
                        <a:lnTo>
                          <a:pt x="4828" y="14483"/>
                        </a:lnTo>
                        <a:cubicBezTo>
                          <a:pt x="4828" y="9333"/>
                          <a:pt x="9012" y="4828"/>
                          <a:pt x="14483" y="4828"/>
                        </a:cubicBezTo>
                        <a:lnTo>
                          <a:pt x="340190" y="4828"/>
                        </a:lnTo>
                        <a:cubicBezTo>
                          <a:pt x="345339" y="4828"/>
                          <a:pt x="349845" y="9012"/>
                          <a:pt x="349845" y="14483"/>
                        </a:cubicBezTo>
                        <a:lnTo>
                          <a:pt x="351776" y="233337"/>
                        </a:lnTo>
                        <a:close/>
                      </a:path>
                    </a:pathLst>
                  </a:custGeom>
                  <a:noFill/>
                  <a:ln w="19050" cap="flat">
                    <a:solidFill>
                      <a:srgbClr val="FFFFFF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Amazon Ember Display"/>
                    </a:endParaRPr>
                  </a:p>
                </p:txBody>
              </p:sp>
              <p:sp>
                <p:nvSpPr>
                  <p:cNvPr id="180" name="Freeform: Shape 53">
                    <a:extLst>
                      <a:ext uri="{FF2B5EF4-FFF2-40B4-BE49-F238E27FC236}">
                        <a16:creationId xmlns:a16="http://schemas.microsoft.com/office/drawing/2014/main" id="{03893405-E3CE-B13C-5FD0-DC0DDD213AE7}"/>
                      </a:ext>
                    </a:extLst>
                  </p:cNvPr>
                  <p:cNvSpPr/>
                  <p:nvPr/>
                </p:nvSpPr>
                <p:spPr>
                  <a:xfrm>
                    <a:off x="8089216" y="1709044"/>
                    <a:ext cx="402306" cy="296097"/>
                  </a:xfrm>
                  <a:custGeom>
                    <a:avLst/>
                    <a:gdLst>
                      <a:gd name="connsiteX0" fmla="*/ 398765 w 402305"/>
                      <a:gd name="connsiteY0" fmla="*/ 283545 h 296096"/>
                      <a:gd name="connsiteX1" fmla="*/ 389110 w 402305"/>
                      <a:gd name="connsiteY1" fmla="*/ 293200 h 296096"/>
                      <a:gd name="connsiteX2" fmla="*/ 14483 w 402305"/>
                      <a:gd name="connsiteY2" fmla="*/ 293200 h 296096"/>
                      <a:gd name="connsiteX3" fmla="*/ 4828 w 402305"/>
                      <a:gd name="connsiteY3" fmla="*/ 283545 h 296096"/>
                      <a:gd name="connsiteX4" fmla="*/ 4828 w 402305"/>
                      <a:gd name="connsiteY4" fmla="*/ 14483 h 296096"/>
                      <a:gd name="connsiteX5" fmla="*/ 14483 w 402305"/>
                      <a:gd name="connsiteY5" fmla="*/ 4828 h 296096"/>
                      <a:gd name="connsiteX6" fmla="*/ 389110 w 402305"/>
                      <a:gd name="connsiteY6" fmla="*/ 4828 h 296096"/>
                      <a:gd name="connsiteX7" fmla="*/ 398765 w 402305"/>
                      <a:gd name="connsiteY7" fmla="*/ 14483 h 296096"/>
                      <a:gd name="connsiteX8" fmla="*/ 398765 w 402305"/>
                      <a:gd name="connsiteY8" fmla="*/ 283545 h 2960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402305" h="296096">
                        <a:moveTo>
                          <a:pt x="398765" y="283545"/>
                        </a:moveTo>
                        <a:cubicBezTo>
                          <a:pt x="398765" y="288695"/>
                          <a:pt x="394581" y="293200"/>
                          <a:pt x="389110" y="293200"/>
                        </a:cubicBezTo>
                        <a:lnTo>
                          <a:pt x="14483" y="293200"/>
                        </a:lnTo>
                        <a:cubicBezTo>
                          <a:pt x="9333" y="293200"/>
                          <a:pt x="4828" y="289016"/>
                          <a:pt x="4828" y="283545"/>
                        </a:cubicBezTo>
                        <a:lnTo>
                          <a:pt x="4828" y="14483"/>
                        </a:lnTo>
                        <a:cubicBezTo>
                          <a:pt x="4828" y="9333"/>
                          <a:pt x="9012" y="4828"/>
                          <a:pt x="14483" y="4828"/>
                        </a:cubicBezTo>
                        <a:lnTo>
                          <a:pt x="389110" y="4828"/>
                        </a:lnTo>
                        <a:cubicBezTo>
                          <a:pt x="394260" y="4828"/>
                          <a:pt x="398765" y="9012"/>
                          <a:pt x="398765" y="14483"/>
                        </a:cubicBezTo>
                        <a:lnTo>
                          <a:pt x="398765" y="283545"/>
                        </a:lnTo>
                        <a:close/>
                      </a:path>
                    </a:pathLst>
                  </a:custGeom>
                  <a:noFill/>
                  <a:ln w="19050" cap="flat">
                    <a:solidFill>
                      <a:srgbClr val="FFFFFF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Amazon Ember Display"/>
                    </a:endParaRPr>
                  </a:p>
                </p:txBody>
              </p:sp>
              <p:sp>
                <p:nvSpPr>
                  <p:cNvPr id="181" name="Freeform: Shape 54">
                    <a:extLst>
                      <a:ext uri="{FF2B5EF4-FFF2-40B4-BE49-F238E27FC236}">
                        <a16:creationId xmlns:a16="http://schemas.microsoft.com/office/drawing/2014/main" id="{5CB069C8-14CF-E216-8CCA-A870C60432C2}"/>
                      </a:ext>
                    </a:extLst>
                  </p:cNvPr>
                  <p:cNvSpPr/>
                  <p:nvPr/>
                </p:nvSpPr>
                <p:spPr>
                  <a:xfrm>
                    <a:off x="8257219" y="1765367"/>
                    <a:ext cx="61150" cy="177014"/>
                  </a:xfrm>
                  <a:custGeom>
                    <a:avLst/>
                    <a:gdLst>
                      <a:gd name="connsiteX0" fmla="*/ 56966 w 61150"/>
                      <a:gd name="connsiteY0" fmla="*/ 4828 h 177014"/>
                      <a:gd name="connsiteX1" fmla="*/ 4828 w 61150"/>
                      <a:gd name="connsiteY1" fmla="*/ 175083 h 17701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61150" h="177014">
                        <a:moveTo>
                          <a:pt x="56966" y="4828"/>
                        </a:moveTo>
                        <a:lnTo>
                          <a:pt x="4828" y="175083"/>
                        </a:lnTo>
                      </a:path>
                    </a:pathLst>
                  </a:custGeom>
                  <a:ln w="19050" cap="flat">
                    <a:solidFill>
                      <a:srgbClr val="AD5CFF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Amazon Ember Display"/>
                    </a:endParaRPr>
                  </a:p>
                </p:txBody>
              </p:sp>
              <p:sp>
                <p:nvSpPr>
                  <p:cNvPr id="182" name="Freeform: Shape 55">
                    <a:extLst>
                      <a:ext uri="{FF2B5EF4-FFF2-40B4-BE49-F238E27FC236}">
                        <a16:creationId xmlns:a16="http://schemas.microsoft.com/office/drawing/2014/main" id="{092E0262-5B8A-4CF4-54AC-C42E64CEBB8C}"/>
                      </a:ext>
                    </a:extLst>
                  </p:cNvPr>
                  <p:cNvSpPr/>
                  <p:nvPr/>
                </p:nvSpPr>
                <p:spPr>
                  <a:xfrm>
                    <a:off x="8178689" y="1804953"/>
                    <a:ext cx="67587" cy="80461"/>
                  </a:xfrm>
                  <a:custGeom>
                    <a:avLst/>
                    <a:gdLst>
                      <a:gd name="connsiteX0" fmla="*/ 65013 w 67587"/>
                      <a:gd name="connsiteY0" fmla="*/ 4828 h 80461"/>
                      <a:gd name="connsiteX1" fmla="*/ 4828 w 67587"/>
                      <a:gd name="connsiteY1" fmla="*/ 37978 h 80461"/>
                      <a:gd name="connsiteX2" fmla="*/ 4828 w 67587"/>
                      <a:gd name="connsiteY2" fmla="*/ 45702 h 80461"/>
                      <a:gd name="connsiteX3" fmla="*/ 65013 w 67587"/>
                      <a:gd name="connsiteY3" fmla="*/ 77565 h 8046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7587" h="80461">
                        <a:moveTo>
                          <a:pt x="65013" y="4828"/>
                        </a:moveTo>
                        <a:lnTo>
                          <a:pt x="4828" y="37978"/>
                        </a:lnTo>
                        <a:lnTo>
                          <a:pt x="4828" y="45702"/>
                        </a:lnTo>
                        <a:lnTo>
                          <a:pt x="65013" y="77565"/>
                        </a:lnTo>
                      </a:path>
                    </a:pathLst>
                  </a:custGeom>
                  <a:noFill/>
                  <a:ln w="19050" cap="flat">
                    <a:solidFill>
                      <a:srgbClr val="AD5CFF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Amazon Ember Display"/>
                    </a:endParaRPr>
                  </a:p>
                </p:txBody>
              </p:sp>
              <p:sp>
                <p:nvSpPr>
                  <p:cNvPr id="183" name="Freeform: Shape 58">
                    <a:extLst>
                      <a:ext uri="{FF2B5EF4-FFF2-40B4-BE49-F238E27FC236}">
                        <a16:creationId xmlns:a16="http://schemas.microsoft.com/office/drawing/2014/main" id="{A3A84D61-50D7-F6DC-0C32-97F52839A5B5}"/>
                      </a:ext>
                    </a:extLst>
                  </p:cNvPr>
                  <p:cNvSpPr/>
                  <p:nvPr/>
                </p:nvSpPr>
                <p:spPr>
                  <a:xfrm>
                    <a:off x="8332209" y="1804953"/>
                    <a:ext cx="67587" cy="80461"/>
                  </a:xfrm>
                  <a:custGeom>
                    <a:avLst/>
                    <a:gdLst>
                      <a:gd name="connsiteX0" fmla="*/ 4828 w 67587"/>
                      <a:gd name="connsiteY0" fmla="*/ 4828 h 80461"/>
                      <a:gd name="connsiteX1" fmla="*/ 65334 w 67587"/>
                      <a:gd name="connsiteY1" fmla="*/ 37978 h 80461"/>
                      <a:gd name="connsiteX2" fmla="*/ 65334 w 67587"/>
                      <a:gd name="connsiteY2" fmla="*/ 45702 h 80461"/>
                      <a:gd name="connsiteX3" fmla="*/ 4828 w 67587"/>
                      <a:gd name="connsiteY3" fmla="*/ 77565 h 8046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7587" h="80461">
                        <a:moveTo>
                          <a:pt x="4828" y="4828"/>
                        </a:moveTo>
                        <a:lnTo>
                          <a:pt x="65334" y="37978"/>
                        </a:lnTo>
                        <a:lnTo>
                          <a:pt x="65334" y="45702"/>
                        </a:lnTo>
                        <a:lnTo>
                          <a:pt x="4828" y="77565"/>
                        </a:lnTo>
                      </a:path>
                    </a:pathLst>
                  </a:custGeom>
                  <a:noFill/>
                  <a:ln w="19050" cap="flat">
                    <a:solidFill>
                      <a:srgbClr val="AD5CFF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Amazon Ember Display"/>
                    </a:endParaRPr>
                  </a:p>
                </p:txBody>
              </p:sp>
            </p:grpSp>
          </p:grpSp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707B80F4-98AC-2731-E14B-4ECDCA288DEF}"/>
                  </a:ext>
                </a:extLst>
              </p:cNvPr>
              <p:cNvSpPr txBox="1"/>
              <p:nvPr/>
            </p:nvSpPr>
            <p:spPr>
              <a:xfrm>
                <a:off x="317554" y="2932960"/>
                <a:ext cx="1202054" cy="393101"/>
              </a:xfrm>
              <a:prstGeom prst="rect">
                <a:avLst/>
              </a:prstGeom>
            </p:spPr>
            <p:txBody>
              <a:bodyPr vert="horz" wrap="none" lIns="91440" tIns="45720" rIns="91440" bIns="4572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mazon Ember Display" panose="020F0603020204020204" pitchFamily="34" charset="0"/>
                    <a:ea typeface="Amazon Ember Display" panose="020F0603020204020204" pitchFamily="34" charset="0"/>
                    <a:cs typeface="Amazon Ember Display" panose="020F0603020204020204" pitchFamily="34" charset="0"/>
                  </a:rPr>
                  <a:t>Agent/Tool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mazon Ember Display" panose="020F0603020204020204" pitchFamily="34" charset="0"/>
                    <a:ea typeface="Amazon Ember Display" panose="020F0603020204020204" pitchFamily="34" charset="0"/>
                    <a:cs typeface="Amazon Ember Display" panose="020F0603020204020204" pitchFamily="34" charset="0"/>
                  </a:rPr>
                  <a:t>Developer</a:t>
                </a:r>
              </a:p>
            </p:txBody>
          </p:sp>
        </p:grpSp>
        <p:cxnSp>
          <p:nvCxnSpPr>
            <p:cNvPr id="122" name="Straight Arrow Connector 121">
              <a:extLst>
                <a:ext uri="{FF2B5EF4-FFF2-40B4-BE49-F238E27FC236}">
                  <a16:creationId xmlns:a16="http://schemas.microsoft.com/office/drawing/2014/main" id="{72F17215-A0B0-780A-6261-1FE52A2CE8D3}"/>
                </a:ext>
              </a:extLst>
            </p:cNvPr>
            <p:cNvCxnSpPr>
              <a:cxnSpLocks/>
            </p:cNvCxnSpPr>
            <p:nvPr/>
          </p:nvCxnSpPr>
          <p:spPr>
            <a:xfrm>
              <a:off x="1402194" y="1045232"/>
              <a:ext cx="2286000" cy="0"/>
            </a:xfrm>
            <a:prstGeom prst="straightConnector1">
              <a:avLst/>
            </a:prstGeom>
            <a:ln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Arrow Connector 224">
              <a:extLst>
                <a:ext uri="{FF2B5EF4-FFF2-40B4-BE49-F238E27FC236}">
                  <a16:creationId xmlns:a16="http://schemas.microsoft.com/office/drawing/2014/main" id="{201AD097-90FC-7CF9-1F38-55073EE66C33}"/>
                </a:ext>
              </a:extLst>
            </p:cNvPr>
            <p:cNvCxnSpPr>
              <a:cxnSpLocks/>
            </p:cNvCxnSpPr>
            <p:nvPr/>
          </p:nvCxnSpPr>
          <p:spPr>
            <a:xfrm>
              <a:off x="1396258" y="2210756"/>
              <a:ext cx="2286000" cy="0"/>
            </a:xfrm>
            <a:prstGeom prst="straightConnector1">
              <a:avLst/>
            </a:prstGeom>
            <a:ln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7" name="Group 226">
              <a:extLst>
                <a:ext uri="{FF2B5EF4-FFF2-40B4-BE49-F238E27FC236}">
                  <a16:creationId xmlns:a16="http://schemas.microsoft.com/office/drawing/2014/main" id="{314BC55E-69A2-4613-6CA8-9B615925A766}"/>
                </a:ext>
              </a:extLst>
            </p:cNvPr>
            <p:cNvGrpSpPr/>
            <p:nvPr/>
          </p:nvGrpSpPr>
          <p:grpSpPr>
            <a:xfrm>
              <a:off x="1346135" y="564070"/>
              <a:ext cx="2276325" cy="323463"/>
              <a:chOff x="1346135" y="1184178"/>
              <a:chExt cx="2276325" cy="323463"/>
            </a:xfrm>
          </p:grpSpPr>
          <p:sp>
            <p:nvSpPr>
              <p:cNvPr id="123" name="Oval 122">
                <a:extLst>
                  <a:ext uri="{FF2B5EF4-FFF2-40B4-BE49-F238E27FC236}">
                    <a16:creationId xmlns:a16="http://schemas.microsoft.com/office/drawing/2014/main" id="{A193E7D3-D342-7CA3-A5D0-8F7E39D1E2CE}"/>
                  </a:ext>
                </a:extLst>
              </p:cNvPr>
              <p:cNvSpPr/>
              <p:nvPr/>
            </p:nvSpPr>
            <p:spPr>
              <a:xfrm>
                <a:off x="1346135" y="1184178"/>
                <a:ext cx="332980" cy="323463"/>
              </a:xfrm>
              <a:prstGeom prst="ellipse">
                <a:avLst/>
              </a:prstGeom>
              <a:solidFill>
                <a:srgbClr val="00B05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mazon Ember Display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226" name="TextBox 225">
                <a:extLst>
                  <a:ext uri="{FF2B5EF4-FFF2-40B4-BE49-F238E27FC236}">
                    <a16:creationId xmlns:a16="http://schemas.microsoft.com/office/drawing/2014/main" id="{8A18DAD0-E624-81CA-F843-8D729BE8822F}"/>
                  </a:ext>
                </a:extLst>
              </p:cNvPr>
              <p:cNvSpPr txBox="1"/>
              <p:nvPr/>
            </p:nvSpPr>
            <p:spPr>
              <a:xfrm>
                <a:off x="1646296" y="1191648"/>
                <a:ext cx="1976164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rIns="0" rtlCol="0">
                <a:spAutoFit/>
              </a:bodyPr>
              <a:lstStyle/>
              <a:p>
                <a:pPr lvl="0" algn="ctr">
                  <a:defRPr/>
                </a:pPr>
                <a:r>
                  <a:rPr lang="en-US" sz="1400" i="1" dirty="0">
                    <a:latin typeface="Amazon Ember Display" panose="020F0603020204020204" pitchFamily="34" charset="0"/>
                    <a:ea typeface="Amazon Ember Display" panose="020F0603020204020204" pitchFamily="34" charset="0"/>
                    <a:cs typeface="Amazon Ember Display" panose="020F0603020204020204" pitchFamily="34" charset="0"/>
                  </a:rPr>
                  <a:t>Create Registry record</a:t>
                </a:r>
                <a:endParaRPr kumimoji="0" lang="en-US" sz="1400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mazon Ember Display" panose="020F0603020204020204" pitchFamily="34" charset="0"/>
                  <a:ea typeface="Amazon Ember Display" panose="020F0603020204020204" pitchFamily="34" charset="0"/>
                  <a:cs typeface="Amazon Ember Display" panose="020F0603020204020204" pitchFamily="34" charset="0"/>
                </a:endParaRPr>
              </a:p>
            </p:txBody>
          </p:sp>
        </p:grpSp>
        <p:grpSp>
          <p:nvGrpSpPr>
            <p:cNvPr id="228" name="Group 227">
              <a:extLst>
                <a:ext uri="{FF2B5EF4-FFF2-40B4-BE49-F238E27FC236}">
                  <a16:creationId xmlns:a16="http://schemas.microsoft.com/office/drawing/2014/main" id="{21A69D2C-6FF4-529B-C365-9E24DD2C3F25}"/>
                </a:ext>
              </a:extLst>
            </p:cNvPr>
            <p:cNvGrpSpPr/>
            <p:nvPr/>
          </p:nvGrpSpPr>
          <p:grpSpPr>
            <a:xfrm>
              <a:off x="1413083" y="1773105"/>
              <a:ext cx="2276325" cy="323463"/>
              <a:chOff x="1346135" y="1184178"/>
              <a:chExt cx="2276325" cy="323463"/>
            </a:xfrm>
          </p:grpSpPr>
          <p:sp>
            <p:nvSpPr>
              <p:cNvPr id="229" name="Oval 228">
                <a:extLst>
                  <a:ext uri="{FF2B5EF4-FFF2-40B4-BE49-F238E27FC236}">
                    <a16:creationId xmlns:a16="http://schemas.microsoft.com/office/drawing/2014/main" id="{8C86315F-DE80-1A1B-612D-8E15384A2A77}"/>
                  </a:ext>
                </a:extLst>
              </p:cNvPr>
              <p:cNvSpPr/>
              <p:nvPr/>
            </p:nvSpPr>
            <p:spPr>
              <a:xfrm>
                <a:off x="1346135" y="1184178"/>
                <a:ext cx="332980" cy="323463"/>
              </a:xfrm>
              <a:prstGeom prst="ellipse">
                <a:avLst/>
              </a:prstGeom>
              <a:solidFill>
                <a:srgbClr val="00B05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mazon Ember Display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230" name="TextBox 229">
                <a:extLst>
                  <a:ext uri="{FF2B5EF4-FFF2-40B4-BE49-F238E27FC236}">
                    <a16:creationId xmlns:a16="http://schemas.microsoft.com/office/drawing/2014/main" id="{0879CE06-6054-7B65-BE36-227D2D5E0229}"/>
                  </a:ext>
                </a:extLst>
              </p:cNvPr>
              <p:cNvSpPr txBox="1"/>
              <p:nvPr/>
            </p:nvSpPr>
            <p:spPr>
              <a:xfrm>
                <a:off x="1646296" y="1191648"/>
                <a:ext cx="1976164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rIns="0" rtlCol="0">
                <a:spAutoFit/>
              </a:bodyPr>
              <a:lstStyle/>
              <a:p>
                <a:pPr lvl="0" algn="ctr">
                  <a:defRPr/>
                </a:pPr>
                <a:r>
                  <a:rPr lang="en-US" sz="1400" i="1" dirty="0">
                    <a:latin typeface="Amazon Ember Display" panose="020F0603020204020204" pitchFamily="34" charset="0"/>
                    <a:ea typeface="Amazon Ember Display" panose="020F0603020204020204" pitchFamily="34" charset="0"/>
                    <a:cs typeface="Amazon Ember Display" panose="020F0603020204020204" pitchFamily="34" charset="0"/>
                  </a:rPr>
                  <a:t>Submit for Approval</a:t>
                </a:r>
                <a:endParaRPr kumimoji="0" lang="en-US" sz="1400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mazon Ember Display" panose="020F0603020204020204" pitchFamily="34" charset="0"/>
                  <a:ea typeface="Amazon Ember Display" panose="020F0603020204020204" pitchFamily="34" charset="0"/>
                  <a:cs typeface="Amazon Ember Display" panose="020F0603020204020204" pitchFamily="34" charset="0"/>
                </a:endParaRPr>
              </a:p>
            </p:txBody>
          </p:sp>
        </p:grpSp>
        <p:sp>
          <p:nvSpPr>
            <p:cNvPr id="232" name="Rectangle: Rounded Corners 37">
              <a:extLst>
                <a:ext uri="{FF2B5EF4-FFF2-40B4-BE49-F238E27FC236}">
                  <a16:creationId xmlns:a16="http://schemas.microsoft.com/office/drawing/2014/main" id="{9CD80211-F325-B324-E7FA-8D58DB797842}"/>
                </a:ext>
              </a:extLst>
            </p:cNvPr>
            <p:cNvSpPr/>
            <p:nvPr/>
          </p:nvSpPr>
          <p:spPr>
            <a:xfrm>
              <a:off x="8827444" y="210212"/>
              <a:ext cx="1929384" cy="4424765"/>
            </a:xfrm>
            <a:prstGeom prst="roundRect">
              <a:avLst>
                <a:gd name="adj" fmla="val 9605"/>
              </a:avLst>
            </a:prstGeom>
            <a:gradFill flip="none" rotWithShape="1">
              <a:gsLst>
                <a:gs pos="3000">
                  <a:srgbClr val="41B3FF"/>
                </a:gs>
                <a:gs pos="80000">
                  <a:srgbClr val="AD5CFF"/>
                </a:gs>
              </a:gsLst>
              <a:path path="circle">
                <a:fillToRect l="100000" t="100000"/>
              </a:path>
              <a:tileRect r="-100000" b="-100000"/>
            </a:gradFill>
            <a:ln w="19050" cap="flat" cmpd="sng" algn="ctr">
              <a:noFill/>
              <a:prstDash val="solid"/>
              <a:miter lim="800000"/>
            </a:ln>
            <a:effectLst>
              <a:outerShdw blurRad="228600" dist="38100" dir="2700000" algn="tl" rotWithShape="0">
                <a:prstClr val="black">
                  <a:alpha val="2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EmberDisplay_Rg.ttf" panose="02110004020202020204"/>
                <a:ea typeface="+mn-ea"/>
                <a:cs typeface="+mn-cs"/>
              </a:endParaRPr>
            </a:p>
          </p:txBody>
        </p:sp>
        <p:pic>
          <p:nvPicPr>
            <p:cNvPr id="233" name="Picture 232">
              <a:extLst>
                <a:ext uri="{FF2B5EF4-FFF2-40B4-BE49-F238E27FC236}">
                  <a16:creationId xmlns:a16="http://schemas.microsoft.com/office/drawing/2014/main" id="{BD8FC4F5-C990-3B42-8A42-6926BC1D4FB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308700" y="1581130"/>
              <a:ext cx="987105" cy="1005840"/>
            </a:xfrm>
            <a:prstGeom prst="rect">
              <a:avLst/>
            </a:prstGeom>
          </p:spPr>
        </p:pic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8137916A-971F-6E60-2ECE-5CC7F4EF3651}"/>
                </a:ext>
              </a:extLst>
            </p:cNvPr>
            <p:cNvSpPr txBox="1"/>
            <p:nvPr/>
          </p:nvSpPr>
          <p:spPr>
            <a:xfrm>
              <a:off x="8890110" y="2661718"/>
              <a:ext cx="1828800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rIns="0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mazon Ember Display" panose="020F0603020204020204" pitchFamily="34" charset="0"/>
                  <a:ea typeface="Amazon Ember Display" panose="020F0603020204020204" pitchFamily="34" charset="0"/>
                  <a:cs typeface="Amazon Ember Display" panose="020F0603020204020204" pitchFamily="34" charset="0"/>
                </a:rPr>
                <a:t>AWS Agent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mazon Ember Display" panose="020F0603020204020204" pitchFamily="34" charset="0"/>
                  <a:ea typeface="Amazon Ember Display" panose="020F0603020204020204" pitchFamily="34" charset="0"/>
                  <a:cs typeface="Amazon Ember Display" panose="020F0603020204020204" pitchFamily="34" charset="0"/>
                </a:rPr>
                <a:t>Registry</a:t>
              </a:r>
            </a:p>
          </p:txBody>
        </p:sp>
        <p:grpSp>
          <p:nvGrpSpPr>
            <p:cNvPr id="235" name="Group 234">
              <a:extLst>
                <a:ext uri="{FF2B5EF4-FFF2-40B4-BE49-F238E27FC236}">
                  <a16:creationId xmlns:a16="http://schemas.microsoft.com/office/drawing/2014/main" id="{D0833B2C-D17C-BBCE-6E1A-A5D52EE92A78}"/>
                </a:ext>
              </a:extLst>
            </p:cNvPr>
            <p:cNvGrpSpPr/>
            <p:nvPr/>
          </p:nvGrpSpPr>
          <p:grpSpPr>
            <a:xfrm>
              <a:off x="9205906" y="5981201"/>
              <a:ext cx="1202054" cy="782921"/>
              <a:chOff x="328531" y="1103425"/>
              <a:chExt cx="1202054" cy="782921"/>
            </a:xfrm>
          </p:grpSpPr>
          <p:pic>
            <p:nvPicPr>
              <p:cNvPr id="236" name="Graphic 235" descr="Office worker male outline">
                <a:extLst>
                  <a:ext uri="{FF2B5EF4-FFF2-40B4-BE49-F238E27FC236}">
                    <a16:creationId xmlns:a16="http://schemas.microsoft.com/office/drawing/2014/main" id="{B9200A5A-A1BD-13D7-8C96-58E414C4BB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652398" y="1103425"/>
                <a:ext cx="554321" cy="554321"/>
              </a:xfrm>
              <a:prstGeom prst="rect">
                <a:avLst/>
              </a:prstGeom>
            </p:spPr>
          </p:pic>
          <p:sp>
            <p:nvSpPr>
              <p:cNvPr id="237" name="TextBox 236">
                <a:extLst>
                  <a:ext uri="{FF2B5EF4-FFF2-40B4-BE49-F238E27FC236}">
                    <a16:creationId xmlns:a16="http://schemas.microsoft.com/office/drawing/2014/main" id="{4B88E50E-900A-4F55-BD22-CD7D5B536065}"/>
                  </a:ext>
                </a:extLst>
              </p:cNvPr>
              <p:cNvSpPr txBox="1"/>
              <p:nvPr/>
            </p:nvSpPr>
            <p:spPr>
              <a:xfrm>
                <a:off x="328531" y="1657746"/>
                <a:ext cx="1202054" cy="228600"/>
              </a:xfrm>
              <a:prstGeom prst="rect">
                <a:avLst/>
              </a:prstGeom>
            </p:spPr>
            <p:txBody>
              <a:bodyPr vert="horz" wrap="none" lIns="91440" tIns="45720" rIns="91440" bIns="45720" rtlCol="0" anchor="ctr">
                <a:no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mazon Ember Display" panose="020F0603020204020204" pitchFamily="34" charset="0"/>
                    <a:ea typeface="Amazon Ember Display" panose="020F0603020204020204" pitchFamily="34" charset="0"/>
                    <a:cs typeface="Amazon Ember Display" panose="020F0603020204020204" pitchFamily="34" charset="0"/>
                  </a:rPr>
                  <a:t>Admin</a:t>
                </a:r>
              </a:p>
            </p:txBody>
          </p:sp>
        </p:grpSp>
        <p:cxnSp>
          <p:nvCxnSpPr>
            <p:cNvPr id="238" name="Straight Arrow Connector 237">
              <a:extLst>
                <a:ext uri="{FF2B5EF4-FFF2-40B4-BE49-F238E27FC236}">
                  <a16:creationId xmlns:a16="http://schemas.microsoft.com/office/drawing/2014/main" id="{14252EEB-F842-2F24-BBEA-EE02B175A341}"/>
                </a:ext>
              </a:extLst>
            </p:cNvPr>
            <p:cNvCxnSpPr>
              <a:cxnSpLocks/>
            </p:cNvCxnSpPr>
            <p:nvPr/>
          </p:nvCxnSpPr>
          <p:spPr>
            <a:xfrm>
              <a:off x="9402152" y="4666137"/>
              <a:ext cx="0" cy="1463040"/>
            </a:xfrm>
            <a:prstGeom prst="straightConnector1">
              <a:avLst/>
            </a:prstGeom>
            <a:ln>
              <a:headEnd type="triangle" w="lg" len="lg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9" name="TextBox 238">
              <a:extLst>
                <a:ext uri="{FF2B5EF4-FFF2-40B4-BE49-F238E27FC236}">
                  <a16:creationId xmlns:a16="http://schemas.microsoft.com/office/drawing/2014/main" id="{CF948645-9C1E-2769-099D-76CE6C0AA794}"/>
                </a:ext>
              </a:extLst>
            </p:cNvPr>
            <p:cNvSpPr txBox="1"/>
            <p:nvPr/>
          </p:nvSpPr>
          <p:spPr>
            <a:xfrm rot="16200000">
              <a:off x="8478066" y="5247891"/>
              <a:ext cx="1371600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rIns="0" rtlCol="0">
              <a:spAutoFit/>
            </a:bodyPr>
            <a:lstStyle/>
            <a:p>
              <a:pPr lvl="0" algn="ctr">
                <a:defRPr/>
              </a:pPr>
              <a:r>
                <a:rPr lang="en-US" sz="1400" i="1" dirty="0">
                  <a:latin typeface="Amazon Ember Display" panose="020F0603020204020204" pitchFamily="34" charset="0"/>
                  <a:ea typeface="Amazon Ember Display" panose="020F0603020204020204" pitchFamily="34" charset="0"/>
                  <a:cs typeface="Amazon Ember Display" panose="020F0603020204020204" pitchFamily="34" charset="0"/>
                </a:rPr>
                <a:t>Create Registry with OAuth</a:t>
              </a:r>
              <a:endParaRPr kumimoji="0" lang="en-US" sz="140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endParaRPr>
            </a:p>
          </p:txBody>
        </p:sp>
        <p:cxnSp>
          <p:nvCxnSpPr>
            <p:cNvPr id="240" name="Straight Arrow Connector 239">
              <a:extLst>
                <a:ext uri="{FF2B5EF4-FFF2-40B4-BE49-F238E27FC236}">
                  <a16:creationId xmlns:a16="http://schemas.microsoft.com/office/drawing/2014/main" id="{CD041370-AA82-0B79-FF3C-587A069790CF}"/>
                </a:ext>
              </a:extLst>
            </p:cNvPr>
            <p:cNvCxnSpPr>
              <a:cxnSpLocks/>
            </p:cNvCxnSpPr>
            <p:nvPr/>
          </p:nvCxnSpPr>
          <p:spPr>
            <a:xfrm>
              <a:off x="10217287" y="4675140"/>
              <a:ext cx="0" cy="1463040"/>
            </a:xfrm>
            <a:prstGeom prst="straightConnector1">
              <a:avLst/>
            </a:prstGeom>
            <a:ln>
              <a:headEnd type="triangle" w="lg" len="lg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22C606C0-4491-7A95-C94D-5EB7173D75E6}"/>
                </a:ext>
              </a:extLst>
            </p:cNvPr>
            <p:cNvSpPr txBox="1"/>
            <p:nvPr/>
          </p:nvSpPr>
          <p:spPr>
            <a:xfrm rot="16200000">
              <a:off x="9700129" y="5369691"/>
              <a:ext cx="1371600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rIns="0" rtlCol="0">
              <a:spAutoFit/>
            </a:bodyPr>
            <a:lstStyle/>
            <a:p>
              <a:pPr lvl="0" algn="ctr">
                <a:defRPr/>
              </a:pPr>
              <a:r>
                <a:rPr lang="en-US" sz="1400" i="1" dirty="0">
                  <a:latin typeface="Amazon Ember Display" panose="020F0603020204020204" pitchFamily="34" charset="0"/>
                  <a:ea typeface="Amazon Ember Display" panose="020F0603020204020204" pitchFamily="34" charset="0"/>
                  <a:cs typeface="Amazon Ember Display" panose="020F0603020204020204" pitchFamily="34" charset="0"/>
                </a:rPr>
                <a:t>Approve/ Reject</a:t>
              </a:r>
              <a:endParaRPr kumimoji="0" lang="en-US" sz="140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endParaRPr>
            </a:p>
          </p:txBody>
        </p:sp>
        <p:sp>
          <p:nvSpPr>
            <p:cNvPr id="242" name="Oval 241">
              <a:extLst>
                <a:ext uri="{FF2B5EF4-FFF2-40B4-BE49-F238E27FC236}">
                  <a16:creationId xmlns:a16="http://schemas.microsoft.com/office/drawing/2014/main" id="{4439A949-AE21-6C62-BAB7-81F3E9C0F3F9}"/>
                </a:ext>
              </a:extLst>
            </p:cNvPr>
            <p:cNvSpPr/>
            <p:nvPr/>
          </p:nvSpPr>
          <p:spPr>
            <a:xfrm>
              <a:off x="8564521" y="5298509"/>
              <a:ext cx="332980" cy="323463"/>
            </a:xfrm>
            <a:prstGeom prst="ellipse">
              <a:avLst/>
            </a:prstGeom>
            <a:solidFill>
              <a:srgbClr val="00B05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kern="0" dirty="0">
                  <a:solidFill>
                    <a:srgbClr val="000000"/>
                  </a:solidFill>
                  <a:latin typeface="Amazon Ember Display"/>
                </a:rPr>
                <a:t>2</a:t>
              </a: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endParaRPr>
            </a:p>
          </p:txBody>
        </p:sp>
        <p:sp>
          <p:nvSpPr>
            <p:cNvPr id="243" name="Oval 242">
              <a:extLst>
                <a:ext uri="{FF2B5EF4-FFF2-40B4-BE49-F238E27FC236}">
                  <a16:creationId xmlns:a16="http://schemas.microsoft.com/office/drawing/2014/main" id="{0FB90545-9E7D-0903-FB86-E7EFA55F3942}"/>
                </a:ext>
              </a:extLst>
            </p:cNvPr>
            <p:cNvSpPr/>
            <p:nvPr/>
          </p:nvSpPr>
          <p:spPr>
            <a:xfrm>
              <a:off x="10552420" y="5271638"/>
              <a:ext cx="332980" cy="323463"/>
            </a:xfrm>
            <a:prstGeom prst="ellipse">
              <a:avLst/>
            </a:prstGeom>
            <a:solidFill>
              <a:srgbClr val="00B05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 Display"/>
                  <a:ea typeface="+mn-ea"/>
                  <a:cs typeface="+mn-cs"/>
                </a:rPr>
                <a:t>5</a:t>
              </a:r>
            </a:p>
          </p:txBody>
        </p:sp>
        <p:grpSp>
          <p:nvGrpSpPr>
            <p:cNvPr id="246" name="Group 245">
              <a:extLst>
                <a:ext uri="{FF2B5EF4-FFF2-40B4-BE49-F238E27FC236}">
                  <a16:creationId xmlns:a16="http://schemas.microsoft.com/office/drawing/2014/main" id="{36367E82-7129-ABAC-1157-1AEAE3ECE5DB}"/>
                </a:ext>
              </a:extLst>
            </p:cNvPr>
            <p:cNvGrpSpPr/>
            <p:nvPr/>
          </p:nvGrpSpPr>
          <p:grpSpPr>
            <a:xfrm>
              <a:off x="3703903" y="210212"/>
              <a:ext cx="3560273" cy="3034117"/>
              <a:chOff x="3651353" y="210212"/>
              <a:chExt cx="3560273" cy="3034117"/>
            </a:xfrm>
          </p:grpSpPr>
          <p:grpSp>
            <p:nvGrpSpPr>
              <p:cNvPr id="201" name="Group 200">
                <a:extLst>
                  <a:ext uri="{FF2B5EF4-FFF2-40B4-BE49-F238E27FC236}">
                    <a16:creationId xmlns:a16="http://schemas.microsoft.com/office/drawing/2014/main" id="{2DEF6567-85C2-433F-C5BF-E1F0202E9A76}"/>
                  </a:ext>
                </a:extLst>
              </p:cNvPr>
              <p:cNvGrpSpPr/>
              <p:nvPr/>
            </p:nvGrpSpPr>
            <p:grpSpPr>
              <a:xfrm>
                <a:off x="3989308" y="756567"/>
                <a:ext cx="1554370" cy="548640"/>
                <a:chOff x="3038648" y="4225629"/>
                <a:chExt cx="1554370" cy="646331"/>
              </a:xfrm>
            </p:grpSpPr>
            <p:sp>
              <p:nvSpPr>
                <p:cNvPr id="208" name="Rectangle: Rounded Corners 37">
                  <a:extLst>
                    <a:ext uri="{FF2B5EF4-FFF2-40B4-BE49-F238E27FC236}">
                      <a16:creationId xmlns:a16="http://schemas.microsoft.com/office/drawing/2014/main" id="{3662917A-D36F-58D2-6958-5D0C3251BA93}"/>
                    </a:ext>
                  </a:extLst>
                </p:cNvPr>
                <p:cNvSpPr/>
                <p:nvPr/>
              </p:nvSpPr>
              <p:spPr>
                <a:xfrm>
                  <a:off x="3038648" y="4225629"/>
                  <a:ext cx="1480800" cy="646331"/>
                </a:xfrm>
                <a:prstGeom prst="roundRect">
                  <a:avLst>
                    <a:gd name="adj" fmla="val 9605"/>
                  </a:avLst>
                </a:prstGeom>
                <a:gradFill flip="none" rotWithShape="1">
                  <a:gsLst>
                    <a:gs pos="3000">
                      <a:srgbClr val="41B3FF"/>
                    </a:gs>
                    <a:gs pos="80000">
                      <a:srgbClr val="AD5CFF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n w="19050" cap="flat" cmpd="sng" algn="ctr">
                  <a:noFill/>
                  <a:prstDash val="solid"/>
                  <a:miter lim="800000"/>
                </a:ln>
                <a:effectLst>
                  <a:outerShdw blurRad="228600" dist="38100" dir="2700000" algn="tl" rotWithShape="0">
                    <a:prstClr val="black">
                      <a:alpha val="25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AmazonEmberDisplay_Rg.ttf" panose="02110004020202020204"/>
                    <a:ea typeface="+mn-ea"/>
                    <a:cs typeface="+mn-cs"/>
                  </a:endParaRPr>
                </a:p>
              </p:txBody>
            </p:sp>
            <p:pic>
              <p:nvPicPr>
                <p:cNvPr id="209" name="Graphic 208">
                  <a:extLst>
                    <a:ext uri="{FF2B5EF4-FFF2-40B4-BE49-F238E27FC236}">
                      <a16:creationId xmlns:a16="http://schemas.microsoft.com/office/drawing/2014/main" id="{3EE9A763-18C2-C8C7-EAD3-51F7AFBFEA5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123622" y="4404724"/>
                  <a:ext cx="358025" cy="358025"/>
                </a:xfrm>
                <a:prstGeom prst="rect">
                  <a:avLst/>
                </a:prstGeom>
              </p:spPr>
            </p:pic>
            <p:sp>
              <p:nvSpPr>
                <p:cNvPr id="210" name="TextBox 209">
                  <a:extLst>
                    <a:ext uri="{FF2B5EF4-FFF2-40B4-BE49-F238E27FC236}">
                      <a16:creationId xmlns:a16="http://schemas.microsoft.com/office/drawing/2014/main" id="{EBEB9EFE-CF31-F31E-AFC9-604CA17EDCD5}"/>
                    </a:ext>
                  </a:extLst>
                </p:cNvPr>
                <p:cNvSpPr txBox="1"/>
                <p:nvPr/>
              </p:nvSpPr>
              <p:spPr>
                <a:xfrm>
                  <a:off x="3390964" y="4483243"/>
                  <a:ext cx="1202054" cy="228600"/>
                </a:xfrm>
                <a:prstGeom prst="rect">
                  <a:avLst/>
                </a:prstGeom>
              </p:spPr>
              <p:txBody>
                <a:bodyPr vert="horz" wrap="none" lIns="91440" tIns="45720" rIns="91440" bIns="45720" rtlCol="0" anchor="ctr">
                  <a:noAutofit/>
                </a:bodyPr>
                <a:lstStyle/>
                <a:p>
                  <a:pPr marL="0" marR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4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Amazon Ember Display" panose="020F0603020204020204" pitchFamily="34" charset="0"/>
                      <a:ea typeface="Amazon Ember Display" panose="020F0603020204020204" pitchFamily="34" charset="0"/>
                      <a:cs typeface="Amazon Ember Display" panose="020F0603020204020204" pitchFamily="34" charset="0"/>
                    </a:rPr>
                    <a:t>A2A Agent</a:t>
                  </a:r>
                </a:p>
              </p:txBody>
            </p:sp>
          </p:grpSp>
          <p:grpSp>
            <p:nvGrpSpPr>
              <p:cNvPr id="202" name="Group 201">
                <a:extLst>
                  <a:ext uri="{FF2B5EF4-FFF2-40B4-BE49-F238E27FC236}">
                    <a16:creationId xmlns:a16="http://schemas.microsoft.com/office/drawing/2014/main" id="{453CCC0D-D767-64A6-5700-9FCB65126F98}"/>
                  </a:ext>
                </a:extLst>
              </p:cNvPr>
              <p:cNvGrpSpPr/>
              <p:nvPr/>
            </p:nvGrpSpPr>
            <p:grpSpPr>
              <a:xfrm>
                <a:off x="3989308" y="1346589"/>
                <a:ext cx="1480800" cy="548640"/>
                <a:chOff x="3038648" y="4225629"/>
                <a:chExt cx="1480800" cy="646331"/>
              </a:xfrm>
            </p:grpSpPr>
            <p:sp>
              <p:nvSpPr>
                <p:cNvPr id="206" name="Rectangle: Rounded Corners 37">
                  <a:extLst>
                    <a:ext uri="{FF2B5EF4-FFF2-40B4-BE49-F238E27FC236}">
                      <a16:creationId xmlns:a16="http://schemas.microsoft.com/office/drawing/2014/main" id="{123F6D2F-E21D-FC83-4B78-BDE939BD2736}"/>
                    </a:ext>
                  </a:extLst>
                </p:cNvPr>
                <p:cNvSpPr/>
                <p:nvPr/>
              </p:nvSpPr>
              <p:spPr>
                <a:xfrm>
                  <a:off x="3038648" y="4225629"/>
                  <a:ext cx="1480800" cy="646331"/>
                </a:xfrm>
                <a:prstGeom prst="roundRect">
                  <a:avLst>
                    <a:gd name="adj" fmla="val 9605"/>
                  </a:avLst>
                </a:prstGeom>
                <a:gradFill flip="none" rotWithShape="1">
                  <a:gsLst>
                    <a:gs pos="3000">
                      <a:srgbClr val="41B3FF"/>
                    </a:gs>
                    <a:gs pos="80000">
                      <a:srgbClr val="AD5CFF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n w="19050" cap="flat" cmpd="sng" algn="ctr">
                  <a:noFill/>
                  <a:prstDash val="solid"/>
                  <a:miter lim="800000"/>
                </a:ln>
                <a:effectLst>
                  <a:outerShdw blurRad="228600" dist="38100" dir="2700000" algn="tl" rotWithShape="0">
                    <a:prstClr val="black">
                      <a:alpha val="25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AmazonEmberDisplay_Rg.ttf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207" name="TextBox 206">
                  <a:extLst>
                    <a:ext uri="{FF2B5EF4-FFF2-40B4-BE49-F238E27FC236}">
                      <a16:creationId xmlns:a16="http://schemas.microsoft.com/office/drawing/2014/main" id="{D2752D7B-2FC9-FC2C-8189-DEBC129AF3CA}"/>
                    </a:ext>
                  </a:extLst>
                </p:cNvPr>
                <p:cNvSpPr txBox="1"/>
                <p:nvPr/>
              </p:nvSpPr>
              <p:spPr>
                <a:xfrm>
                  <a:off x="3254331" y="4462223"/>
                  <a:ext cx="1202054" cy="228600"/>
                </a:xfrm>
                <a:prstGeom prst="rect">
                  <a:avLst/>
                </a:prstGeom>
              </p:spPr>
              <p:txBody>
                <a:bodyPr vert="horz" wrap="none" lIns="91440" tIns="45720" rIns="91440" bIns="45720" rtlCol="0" anchor="ctr">
                  <a:noAutofit/>
                </a:bodyPr>
                <a:lstStyle/>
                <a:p>
                  <a:pPr marL="0" marR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4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Amazon Ember Display" panose="020F0603020204020204" pitchFamily="34" charset="0"/>
                      <a:ea typeface="Amazon Ember Display" panose="020F0603020204020204" pitchFamily="34" charset="0"/>
                      <a:cs typeface="Amazon Ember Display" panose="020F0603020204020204" pitchFamily="34" charset="0"/>
                    </a:rPr>
                    <a:t>MCP</a:t>
                  </a:r>
                </a:p>
              </p:txBody>
            </p:sp>
          </p:grpSp>
          <p:pic>
            <p:nvPicPr>
              <p:cNvPr id="203" name="Picture 202">
                <a:extLst>
                  <a:ext uri="{FF2B5EF4-FFF2-40B4-BE49-F238E27FC236}">
                    <a16:creationId xmlns:a16="http://schemas.microsoft.com/office/drawing/2014/main" id="{BDC4E8FC-999C-D371-F766-D56A653896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91736" y="1479845"/>
                <a:ext cx="323116" cy="329213"/>
              </a:xfrm>
              <a:prstGeom prst="rect">
                <a:avLst/>
              </a:prstGeom>
            </p:spPr>
          </p:pic>
          <p:sp>
            <p:nvSpPr>
              <p:cNvPr id="204" name="Rounded Rectangle 80">
                <a:extLst>
                  <a:ext uri="{FF2B5EF4-FFF2-40B4-BE49-F238E27FC236}">
                    <a16:creationId xmlns:a16="http://schemas.microsoft.com/office/drawing/2014/main" id="{F276385E-B40C-D5EC-435B-1A0E00FEDE31}"/>
                  </a:ext>
                </a:extLst>
              </p:cNvPr>
              <p:cNvSpPr/>
              <p:nvPr/>
            </p:nvSpPr>
            <p:spPr>
              <a:xfrm>
                <a:off x="5635394" y="835990"/>
                <a:ext cx="1202054" cy="341591"/>
              </a:xfrm>
              <a:prstGeom prst="roundRect">
                <a:avLst>
                  <a:gd name="adj" fmla="val 16728"/>
                </a:avLst>
              </a:prstGeom>
              <a:solidFill>
                <a:srgbClr val="FFFFFF">
                  <a:lumMod val="75000"/>
                </a:srgbClr>
              </a:solidFill>
              <a:ln w="19050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mazon Ember Display"/>
                    <a:ea typeface="+mn-ea"/>
                    <a:cs typeface="+mn-cs"/>
                  </a:rPr>
                  <a:t>Agent Card</a:t>
                </a:r>
              </a:p>
            </p:txBody>
          </p:sp>
          <p:sp>
            <p:nvSpPr>
              <p:cNvPr id="205" name="Rounded Rectangle 80">
                <a:extLst>
                  <a:ext uri="{FF2B5EF4-FFF2-40B4-BE49-F238E27FC236}">
                    <a16:creationId xmlns:a16="http://schemas.microsoft.com/office/drawing/2014/main" id="{C4A1F6CC-8B5D-EEEF-18DF-E3579E559CB8}"/>
                  </a:ext>
                </a:extLst>
              </p:cNvPr>
              <p:cNvSpPr/>
              <p:nvPr/>
            </p:nvSpPr>
            <p:spPr>
              <a:xfrm>
                <a:off x="5635394" y="1450113"/>
                <a:ext cx="1202054" cy="341591"/>
              </a:xfrm>
              <a:prstGeom prst="roundRect">
                <a:avLst>
                  <a:gd name="adj" fmla="val 16728"/>
                </a:avLst>
              </a:prstGeom>
              <a:solidFill>
                <a:srgbClr val="FFFFFF">
                  <a:lumMod val="75000"/>
                </a:srgbClr>
              </a:solidFill>
              <a:ln w="19050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mazon Ember Display"/>
                    <a:ea typeface="+mn-ea"/>
                    <a:cs typeface="+mn-cs"/>
                  </a:rPr>
                  <a:t>Tool Schema</a:t>
                </a:r>
              </a:p>
            </p:txBody>
          </p:sp>
          <p:grpSp>
            <p:nvGrpSpPr>
              <p:cNvPr id="219" name="Group 218">
                <a:extLst>
                  <a:ext uri="{FF2B5EF4-FFF2-40B4-BE49-F238E27FC236}">
                    <a16:creationId xmlns:a16="http://schemas.microsoft.com/office/drawing/2014/main" id="{B23CAF87-EB5E-AC91-3811-3AE310A43ACE}"/>
                  </a:ext>
                </a:extLst>
              </p:cNvPr>
              <p:cNvGrpSpPr/>
              <p:nvPr/>
            </p:nvGrpSpPr>
            <p:grpSpPr>
              <a:xfrm>
                <a:off x="3989308" y="1947125"/>
                <a:ext cx="1480800" cy="548640"/>
                <a:chOff x="3989308" y="2567233"/>
                <a:chExt cx="1480800" cy="548640"/>
              </a:xfrm>
            </p:grpSpPr>
            <p:sp>
              <p:nvSpPr>
                <p:cNvPr id="214" name="Rectangle: Rounded Corners 37">
                  <a:extLst>
                    <a:ext uri="{FF2B5EF4-FFF2-40B4-BE49-F238E27FC236}">
                      <a16:creationId xmlns:a16="http://schemas.microsoft.com/office/drawing/2014/main" id="{FA5E31A1-F359-89EC-EF12-D7DD4917E988}"/>
                    </a:ext>
                  </a:extLst>
                </p:cNvPr>
                <p:cNvSpPr/>
                <p:nvPr/>
              </p:nvSpPr>
              <p:spPr>
                <a:xfrm>
                  <a:off x="3989308" y="2567233"/>
                  <a:ext cx="1480800" cy="548640"/>
                </a:xfrm>
                <a:prstGeom prst="roundRect">
                  <a:avLst>
                    <a:gd name="adj" fmla="val 9605"/>
                  </a:avLst>
                </a:prstGeom>
                <a:gradFill flip="none" rotWithShape="1">
                  <a:gsLst>
                    <a:gs pos="3000">
                      <a:srgbClr val="41B3FF"/>
                    </a:gs>
                    <a:gs pos="80000">
                      <a:srgbClr val="AD5CFF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n w="19050" cap="flat" cmpd="sng" algn="ctr">
                  <a:noFill/>
                  <a:prstDash val="solid"/>
                  <a:miter lim="800000"/>
                </a:ln>
                <a:effectLst>
                  <a:outerShdw blurRad="228600" dist="38100" dir="2700000" algn="tl" rotWithShape="0">
                    <a:prstClr val="black">
                      <a:alpha val="25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AmazonEmberDisplay_Rg.ttf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215" name="TextBox 214">
                  <a:extLst>
                    <a:ext uri="{FF2B5EF4-FFF2-40B4-BE49-F238E27FC236}">
                      <a16:creationId xmlns:a16="http://schemas.microsoft.com/office/drawing/2014/main" id="{172598B3-AED7-8435-3C5E-91262C39E1E6}"/>
                    </a:ext>
                  </a:extLst>
                </p:cNvPr>
                <p:cNvSpPr txBox="1"/>
                <p:nvPr/>
              </p:nvSpPr>
              <p:spPr>
                <a:xfrm>
                  <a:off x="4074282" y="2744529"/>
                  <a:ext cx="1202054" cy="194048"/>
                </a:xfrm>
                <a:prstGeom prst="rect">
                  <a:avLst/>
                </a:prstGeom>
              </p:spPr>
              <p:txBody>
                <a:bodyPr vert="horz" wrap="none" lIns="91440" tIns="45720" rIns="91440" bIns="45720" rtlCol="0" anchor="ctr">
                  <a:noAutofit/>
                </a:bodyPr>
                <a:lstStyle/>
                <a:p>
                  <a:pPr marL="0" marR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4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Amazon Ember Display" panose="020F0603020204020204" pitchFamily="34" charset="0"/>
                      <a:ea typeface="Amazon Ember Display" panose="020F0603020204020204" pitchFamily="34" charset="0"/>
                      <a:cs typeface="Amazon Ember Display" panose="020F0603020204020204" pitchFamily="34" charset="0"/>
                    </a:rPr>
                    <a:t>Agent Skills</a:t>
                  </a:r>
                </a:p>
              </p:txBody>
            </p:sp>
          </p:grpSp>
          <p:grpSp>
            <p:nvGrpSpPr>
              <p:cNvPr id="220" name="Group 219">
                <a:extLst>
                  <a:ext uri="{FF2B5EF4-FFF2-40B4-BE49-F238E27FC236}">
                    <a16:creationId xmlns:a16="http://schemas.microsoft.com/office/drawing/2014/main" id="{189436E7-2EDE-02DB-CE52-F4145FCA4A66}"/>
                  </a:ext>
                </a:extLst>
              </p:cNvPr>
              <p:cNvGrpSpPr/>
              <p:nvPr/>
            </p:nvGrpSpPr>
            <p:grpSpPr>
              <a:xfrm>
                <a:off x="3978798" y="2544030"/>
                <a:ext cx="1480800" cy="548640"/>
                <a:chOff x="4204716" y="3612138"/>
                <a:chExt cx="1480800" cy="548640"/>
              </a:xfrm>
            </p:grpSpPr>
            <p:sp>
              <p:nvSpPr>
                <p:cNvPr id="217" name="Rectangle: Rounded Corners 37">
                  <a:extLst>
                    <a:ext uri="{FF2B5EF4-FFF2-40B4-BE49-F238E27FC236}">
                      <a16:creationId xmlns:a16="http://schemas.microsoft.com/office/drawing/2014/main" id="{0C369EDF-9BC9-E2D2-8193-D0945DDF9B30}"/>
                    </a:ext>
                  </a:extLst>
                </p:cNvPr>
                <p:cNvSpPr/>
                <p:nvPr/>
              </p:nvSpPr>
              <p:spPr>
                <a:xfrm>
                  <a:off x="4204716" y="3612138"/>
                  <a:ext cx="1480800" cy="548640"/>
                </a:xfrm>
                <a:prstGeom prst="roundRect">
                  <a:avLst>
                    <a:gd name="adj" fmla="val 9605"/>
                  </a:avLst>
                </a:prstGeom>
                <a:gradFill flip="none" rotWithShape="1">
                  <a:gsLst>
                    <a:gs pos="3000">
                      <a:srgbClr val="41B3FF"/>
                    </a:gs>
                    <a:gs pos="80000">
                      <a:srgbClr val="AD5CFF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n w="19050" cap="flat" cmpd="sng" algn="ctr">
                  <a:noFill/>
                  <a:prstDash val="solid"/>
                  <a:miter lim="800000"/>
                </a:ln>
                <a:effectLst>
                  <a:outerShdw blurRad="228600" dist="38100" dir="2700000" algn="tl" rotWithShape="0">
                    <a:prstClr val="black">
                      <a:alpha val="25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AmazonEmberDisplay_Rg.ttf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218" name="TextBox 217">
                  <a:extLst>
                    <a:ext uri="{FF2B5EF4-FFF2-40B4-BE49-F238E27FC236}">
                      <a16:creationId xmlns:a16="http://schemas.microsoft.com/office/drawing/2014/main" id="{F6AFEA42-C869-ADFB-753B-539E362A9C79}"/>
                    </a:ext>
                  </a:extLst>
                </p:cNvPr>
                <p:cNvSpPr txBox="1"/>
                <p:nvPr/>
              </p:nvSpPr>
              <p:spPr>
                <a:xfrm>
                  <a:off x="4341624" y="3789434"/>
                  <a:ext cx="1202054" cy="194048"/>
                </a:xfrm>
                <a:prstGeom prst="rect">
                  <a:avLst/>
                </a:prstGeom>
              </p:spPr>
              <p:txBody>
                <a:bodyPr vert="horz" wrap="none" lIns="91440" tIns="45720" rIns="91440" bIns="45720" rtlCol="0" anchor="ctr">
                  <a:noAutofit/>
                </a:bodyPr>
                <a:lstStyle/>
                <a:p>
                  <a:pPr marL="0" marR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4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Amazon Ember Display" panose="020F0603020204020204" pitchFamily="34" charset="0"/>
                      <a:ea typeface="Amazon Ember Display" panose="020F0603020204020204" pitchFamily="34" charset="0"/>
                      <a:cs typeface="Amazon Ember Display" panose="020F0603020204020204" pitchFamily="34" charset="0"/>
                    </a:rPr>
                    <a:t>Custom Tools</a:t>
                  </a:r>
                </a:p>
              </p:txBody>
            </p:sp>
          </p:grpSp>
          <p:sp>
            <p:nvSpPr>
              <p:cNvPr id="221" name="Rounded Rectangle 80">
                <a:extLst>
                  <a:ext uri="{FF2B5EF4-FFF2-40B4-BE49-F238E27FC236}">
                    <a16:creationId xmlns:a16="http://schemas.microsoft.com/office/drawing/2014/main" id="{CCB6F577-08CE-D1DF-DB86-AE3261E5F63D}"/>
                  </a:ext>
                </a:extLst>
              </p:cNvPr>
              <p:cNvSpPr/>
              <p:nvPr/>
            </p:nvSpPr>
            <p:spPr>
              <a:xfrm>
                <a:off x="5644482" y="1986206"/>
                <a:ext cx="1202054" cy="457200"/>
              </a:xfrm>
              <a:prstGeom prst="roundRect">
                <a:avLst>
                  <a:gd name="adj" fmla="val 16728"/>
                </a:avLst>
              </a:prstGeom>
              <a:solidFill>
                <a:srgbClr val="FFFFFF">
                  <a:lumMod val="75000"/>
                </a:srgbClr>
              </a:solidFill>
              <a:ln w="19050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mazon Ember Display"/>
                    <a:ea typeface="+mn-ea"/>
                    <a:cs typeface="+mn-cs"/>
                  </a:rPr>
                  <a:t>Skill markdown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kern="0" dirty="0">
                    <a:solidFill>
                      <a:srgbClr val="000000"/>
                    </a:solidFill>
                    <a:latin typeface="Amazon Ember Display"/>
                  </a:rPr>
                  <a:t>Skill definition</a:t>
                </a:r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 Display"/>
                  <a:ea typeface="+mn-ea"/>
                  <a:cs typeface="+mn-cs"/>
                </a:endParaRPr>
              </a:p>
            </p:txBody>
          </p:sp>
          <p:sp>
            <p:nvSpPr>
              <p:cNvPr id="223" name="Rounded Rectangle 80">
                <a:extLst>
                  <a:ext uri="{FF2B5EF4-FFF2-40B4-BE49-F238E27FC236}">
                    <a16:creationId xmlns:a16="http://schemas.microsoft.com/office/drawing/2014/main" id="{22F80E00-6F1E-C8B8-1B7E-5C30C237C362}"/>
                  </a:ext>
                </a:extLst>
              </p:cNvPr>
              <p:cNvSpPr/>
              <p:nvPr/>
            </p:nvSpPr>
            <p:spPr>
              <a:xfrm>
                <a:off x="5635394" y="2624345"/>
                <a:ext cx="1202054" cy="341591"/>
              </a:xfrm>
              <a:prstGeom prst="roundRect">
                <a:avLst>
                  <a:gd name="adj" fmla="val 16728"/>
                </a:avLst>
              </a:prstGeom>
              <a:solidFill>
                <a:srgbClr val="FFFFFF">
                  <a:lumMod val="75000"/>
                </a:srgbClr>
              </a:solidFill>
              <a:ln w="19050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mazon Ember Display"/>
                    <a:ea typeface="+mn-ea"/>
                    <a:cs typeface="+mn-cs"/>
                  </a:rPr>
                  <a:t>Custom schema</a:t>
                </a:r>
              </a:p>
            </p:txBody>
          </p:sp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815BCD80-3620-1E2C-8417-3FE3189CF6E3}"/>
                  </a:ext>
                </a:extLst>
              </p:cNvPr>
              <p:cNvSpPr/>
              <p:nvPr/>
            </p:nvSpPr>
            <p:spPr>
              <a:xfrm>
                <a:off x="3669111" y="210212"/>
                <a:ext cx="3542515" cy="3034117"/>
              </a:xfrm>
              <a:prstGeom prst="rect">
                <a:avLst/>
              </a:prstGeom>
              <a:noFill/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5" name="TextBox 244">
                <a:extLst>
                  <a:ext uri="{FF2B5EF4-FFF2-40B4-BE49-F238E27FC236}">
                    <a16:creationId xmlns:a16="http://schemas.microsoft.com/office/drawing/2014/main" id="{0005495E-28B4-1CDF-8E4E-8FE651B6F45D}"/>
                  </a:ext>
                </a:extLst>
              </p:cNvPr>
              <p:cNvSpPr txBox="1"/>
              <p:nvPr/>
            </p:nvSpPr>
            <p:spPr>
              <a:xfrm>
                <a:off x="3651353" y="259012"/>
                <a:ext cx="3542515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rIns="0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mazon Ember Display" panose="020F0603020204020204" pitchFamily="34" charset="0"/>
                    <a:ea typeface="Amazon Ember Display" panose="020F0603020204020204" pitchFamily="34" charset="0"/>
                    <a:cs typeface="Amazon Ember Display" panose="020F0603020204020204" pitchFamily="34" charset="0"/>
                  </a:rPr>
                  <a:t>Registry Records with Metadata</a:t>
                </a:r>
              </a:p>
            </p:txBody>
          </p:sp>
        </p:grpSp>
        <p:cxnSp>
          <p:nvCxnSpPr>
            <p:cNvPr id="247" name="Straight Arrow Connector 246">
              <a:extLst>
                <a:ext uri="{FF2B5EF4-FFF2-40B4-BE49-F238E27FC236}">
                  <a16:creationId xmlns:a16="http://schemas.microsoft.com/office/drawing/2014/main" id="{3486BD63-DACB-B136-A9FD-7616FD5BC98B}"/>
                </a:ext>
              </a:extLst>
            </p:cNvPr>
            <p:cNvCxnSpPr>
              <a:cxnSpLocks/>
            </p:cNvCxnSpPr>
            <p:nvPr/>
          </p:nvCxnSpPr>
          <p:spPr>
            <a:xfrm>
              <a:off x="7246418" y="1735924"/>
              <a:ext cx="1554480" cy="0"/>
            </a:xfrm>
            <a:prstGeom prst="straightConnector1">
              <a:avLst/>
            </a:prstGeom>
            <a:ln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9" name="Rounded Rectangle 8">
              <a:extLst>
                <a:ext uri="{FF2B5EF4-FFF2-40B4-BE49-F238E27FC236}">
                  <a16:creationId xmlns:a16="http://schemas.microsoft.com/office/drawing/2014/main" id="{E84A06BF-9134-5771-7A64-C6F2CC7D3CE7}"/>
                </a:ext>
              </a:extLst>
            </p:cNvPr>
            <p:cNvSpPr/>
            <p:nvPr/>
          </p:nvSpPr>
          <p:spPr>
            <a:xfrm>
              <a:off x="5339940" y="5284368"/>
              <a:ext cx="1360954" cy="853812"/>
            </a:xfrm>
            <a:prstGeom prst="roundRect">
              <a:avLst/>
            </a:prstGeom>
            <a:solidFill>
              <a:srgbClr val="E433FF"/>
            </a:solidFill>
            <a:ln w="317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232F3E"/>
                  </a:solidFill>
                  <a:effectLst/>
                  <a:uLnTx/>
                  <a:uFillTx/>
                  <a:latin typeface="Amazon Ember Display"/>
                  <a:ea typeface="+mn-ea"/>
                  <a:cs typeface="+mn-cs"/>
                </a:rPr>
                <a:t>OAuth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kern="0" dirty="0">
                  <a:solidFill>
                    <a:srgbClr val="232F3E"/>
                  </a:solidFill>
                  <a:latin typeface="Amazon Ember Display"/>
                </a:rPr>
                <a:t>Server</a:t>
              </a: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32F3E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endParaRPr>
            </a:p>
          </p:txBody>
        </p:sp>
        <p:cxnSp>
          <p:nvCxnSpPr>
            <p:cNvPr id="252" name="Connector: Elbow 251">
              <a:extLst>
                <a:ext uri="{FF2B5EF4-FFF2-40B4-BE49-F238E27FC236}">
                  <a16:creationId xmlns:a16="http://schemas.microsoft.com/office/drawing/2014/main" id="{F5381772-7174-3D46-6C9D-DA44058A7C40}"/>
                </a:ext>
              </a:extLst>
            </p:cNvPr>
            <p:cNvCxnSpPr>
              <a:cxnSpLocks/>
              <a:endCxn id="249" idx="2"/>
            </p:cNvCxnSpPr>
            <p:nvPr/>
          </p:nvCxnSpPr>
          <p:spPr>
            <a:xfrm rot="10800000">
              <a:off x="6020417" y="6138180"/>
              <a:ext cx="3400586" cy="262626"/>
            </a:xfrm>
            <a:prstGeom prst="bentConnector2">
              <a:avLst/>
            </a:prstGeom>
            <a:ln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5" name="TextBox 254">
              <a:extLst>
                <a:ext uri="{FF2B5EF4-FFF2-40B4-BE49-F238E27FC236}">
                  <a16:creationId xmlns:a16="http://schemas.microsoft.com/office/drawing/2014/main" id="{0A6D0A8E-B474-B910-5AAA-EBF032671BA1}"/>
                </a:ext>
              </a:extLst>
            </p:cNvPr>
            <p:cNvSpPr txBox="1"/>
            <p:nvPr/>
          </p:nvSpPr>
          <p:spPr>
            <a:xfrm>
              <a:off x="6096000" y="6394959"/>
              <a:ext cx="3155183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rIns="0" rtlCol="0">
              <a:spAutoFit/>
            </a:bodyPr>
            <a:lstStyle/>
            <a:p>
              <a:pPr lvl="0" algn="ctr">
                <a:defRPr/>
              </a:pPr>
              <a:r>
                <a:rPr lang="en-US" sz="1400" i="1" dirty="0">
                  <a:latin typeface="Amazon Ember Display" panose="020F0603020204020204" pitchFamily="34" charset="0"/>
                  <a:ea typeface="Amazon Ember Display" panose="020F0603020204020204" pitchFamily="34" charset="0"/>
                  <a:cs typeface="Amazon Ember Display" panose="020F0603020204020204" pitchFamily="34" charset="0"/>
                </a:rPr>
                <a:t>Setup Authn/Authz for developers, consumers, approvers</a:t>
              </a:r>
            </a:p>
          </p:txBody>
        </p:sp>
        <p:sp>
          <p:nvSpPr>
            <p:cNvPr id="257" name="Oval 256">
              <a:extLst>
                <a:ext uri="{FF2B5EF4-FFF2-40B4-BE49-F238E27FC236}">
                  <a16:creationId xmlns:a16="http://schemas.microsoft.com/office/drawing/2014/main" id="{8C272E39-7DDE-5E08-7672-979E57BCD1DD}"/>
                </a:ext>
              </a:extLst>
            </p:cNvPr>
            <p:cNvSpPr/>
            <p:nvPr/>
          </p:nvSpPr>
          <p:spPr>
            <a:xfrm>
              <a:off x="7507101" y="6003465"/>
              <a:ext cx="332980" cy="323463"/>
            </a:xfrm>
            <a:prstGeom prst="ellipse">
              <a:avLst/>
            </a:prstGeom>
            <a:solidFill>
              <a:srgbClr val="00B05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 Display"/>
                  <a:ea typeface="+mn-ea"/>
                  <a:cs typeface="+mn-cs"/>
                </a:rPr>
                <a:t>1</a:t>
              </a:r>
            </a:p>
          </p:txBody>
        </p:sp>
        <p:grpSp>
          <p:nvGrpSpPr>
            <p:cNvPr id="258" name="Group 257">
              <a:extLst>
                <a:ext uri="{FF2B5EF4-FFF2-40B4-BE49-F238E27FC236}">
                  <a16:creationId xmlns:a16="http://schemas.microsoft.com/office/drawing/2014/main" id="{2D781245-8617-F995-012E-53BABC9F7535}"/>
                </a:ext>
              </a:extLst>
            </p:cNvPr>
            <p:cNvGrpSpPr/>
            <p:nvPr/>
          </p:nvGrpSpPr>
          <p:grpSpPr>
            <a:xfrm>
              <a:off x="1635119" y="3348299"/>
              <a:ext cx="1240282" cy="1450449"/>
              <a:chOff x="2879145" y="4991487"/>
              <a:chExt cx="1240282" cy="1450449"/>
            </a:xfrm>
          </p:grpSpPr>
          <p:pic>
            <p:nvPicPr>
              <p:cNvPr id="259" name="Picture 258">
                <a:extLst>
                  <a:ext uri="{FF2B5EF4-FFF2-40B4-BE49-F238E27FC236}">
                    <a16:creationId xmlns:a16="http://schemas.microsoft.com/office/drawing/2014/main" id="{24245272-4237-BFD1-03F2-130ACD6193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879145" y="5441920"/>
                <a:ext cx="1211747" cy="505875"/>
              </a:xfrm>
              <a:prstGeom prst="rect">
                <a:avLst/>
              </a:prstGeom>
              <a:effectLst>
                <a:outerShdw blurRad="50800" dist="50800" dir="5400000" algn="ctr" rotWithShape="0">
                  <a:schemeClr val="tx1"/>
                </a:outerShdw>
              </a:effectLst>
            </p:spPr>
          </p:pic>
          <p:sp>
            <p:nvSpPr>
              <p:cNvPr id="260" name="Rounded Rectangle 80">
                <a:extLst>
                  <a:ext uri="{FF2B5EF4-FFF2-40B4-BE49-F238E27FC236}">
                    <a16:creationId xmlns:a16="http://schemas.microsoft.com/office/drawing/2014/main" id="{8C39E906-D846-FC3D-C604-B4B9E88747EC}"/>
                  </a:ext>
                </a:extLst>
              </p:cNvPr>
              <p:cNvSpPr/>
              <p:nvPr/>
            </p:nvSpPr>
            <p:spPr>
              <a:xfrm>
                <a:off x="2917373" y="6100345"/>
                <a:ext cx="1202054" cy="341591"/>
              </a:xfrm>
              <a:prstGeom prst="roundRect">
                <a:avLst>
                  <a:gd name="adj" fmla="val 16728"/>
                </a:avLst>
              </a:prstGeom>
              <a:solidFill>
                <a:schemeClr val="bg1"/>
              </a:solidFill>
              <a:ln w="19050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mazon Ember Display"/>
                    <a:ea typeface="+mn-ea"/>
                    <a:cs typeface="+mn-cs"/>
                  </a:rPr>
                  <a:t>SDK</a:t>
                </a:r>
              </a:p>
            </p:txBody>
          </p:sp>
          <p:sp>
            <p:nvSpPr>
              <p:cNvPr id="261" name="Rounded Rectangle 80">
                <a:extLst>
                  <a:ext uri="{FF2B5EF4-FFF2-40B4-BE49-F238E27FC236}">
                    <a16:creationId xmlns:a16="http://schemas.microsoft.com/office/drawing/2014/main" id="{3BA177F5-5DEC-E8D2-D27A-1D8212C85ED9}"/>
                  </a:ext>
                </a:extLst>
              </p:cNvPr>
              <p:cNvSpPr/>
              <p:nvPr/>
            </p:nvSpPr>
            <p:spPr>
              <a:xfrm>
                <a:off x="2888838" y="4991487"/>
                <a:ext cx="1202054" cy="341591"/>
              </a:xfrm>
              <a:prstGeom prst="roundRect">
                <a:avLst>
                  <a:gd name="adj" fmla="val 16728"/>
                </a:avLst>
              </a:prstGeom>
              <a:solidFill>
                <a:schemeClr val="bg1"/>
              </a:solidFill>
              <a:ln w="19050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mazon Ember Display"/>
                    <a:ea typeface="+mn-ea"/>
                    <a:cs typeface="+mn-cs"/>
                  </a:rPr>
                  <a:t>AWS Console</a:t>
                </a:r>
              </a:p>
            </p:txBody>
          </p:sp>
        </p:grpSp>
        <p:grpSp>
          <p:nvGrpSpPr>
            <p:cNvPr id="262" name="Group 261">
              <a:extLst>
                <a:ext uri="{FF2B5EF4-FFF2-40B4-BE49-F238E27FC236}">
                  <a16:creationId xmlns:a16="http://schemas.microsoft.com/office/drawing/2014/main" id="{AFC07AAE-B702-1358-49B5-50857C5858F4}"/>
                </a:ext>
              </a:extLst>
            </p:cNvPr>
            <p:cNvGrpSpPr/>
            <p:nvPr/>
          </p:nvGrpSpPr>
          <p:grpSpPr>
            <a:xfrm>
              <a:off x="111227" y="3670559"/>
              <a:ext cx="1202054" cy="754160"/>
              <a:chOff x="9877907" y="5916376"/>
              <a:chExt cx="1202054" cy="754160"/>
            </a:xfrm>
          </p:grpSpPr>
          <p:pic>
            <p:nvPicPr>
              <p:cNvPr id="263" name="Graphic 22" descr="User resource icon for the General Icons category.">
                <a:extLst>
                  <a:ext uri="{FF2B5EF4-FFF2-40B4-BE49-F238E27FC236}">
                    <a16:creationId xmlns:a16="http://schemas.microsoft.com/office/drawing/2014/main" id="{D6A45AAE-F171-5CC5-E2D3-72E76E8FB1A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rcRect/>
              <a:stretch/>
            </p:blipFill>
            <p:spPr bwMode="auto">
              <a:xfrm>
                <a:off x="10251625" y="5916376"/>
                <a:ext cx="466344" cy="466344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64" name="TextBox 263">
                <a:extLst>
                  <a:ext uri="{FF2B5EF4-FFF2-40B4-BE49-F238E27FC236}">
                    <a16:creationId xmlns:a16="http://schemas.microsoft.com/office/drawing/2014/main" id="{9FF5E239-19DC-6E7B-42C9-12ACADB818F9}"/>
                  </a:ext>
                </a:extLst>
              </p:cNvPr>
              <p:cNvSpPr txBox="1"/>
              <p:nvPr/>
            </p:nvSpPr>
            <p:spPr>
              <a:xfrm>
                <a:off x="9877907" y="6441936"/>
                <a:ext cx="1202054" cy="228600"/>
              </a:xfrm>
              <a:prstGeom prst="rect">
                <a:avLst/>
              </a:prstGeom>
            </p:spPr>
            <p:txBody>
              <a:bodyPr vert="horz" wrap="none" lIns="91440" tIns="45720" rIns="91440" bIns="45720" rtlCol="0" anchor="ctr">
                <a:no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mazon Ember Display" panose="020F0603020204020204" pitchFamily="34" charset="0"/>
                    <a:ea typeface="Amazon Ember Display" panose="020F0603020204020204" pitchFamily="34" charset="0"/>
                    <a:cs typeface="Amazon Ember Display" panose="020F0603020204020204" pitchFamily="34" charset="0"/>
                  </a:rPr>
                  <a:t>Consumer</a:t>
                </a:r>
              </a:p>
            </p:txBody>
          </p:sp>
        </p:grpSp>
        <p:cxnSp>
          <p:nvCxnSpPr>
            <p:cNvPr id="265" name="Straight Arrow Connector 264">
              <a:extLst>
                <a:ext uri="{FF2B5EF4-FFF2-40B4-BE49-F238E27FC236}">
                  <a16:creationId xmlns:a16="http://schemas.microsoft.com/office/drawing/2014/main" id="{018DA720-9CBA-509D-4ACA-3D77F1D584B2}"/>
                </a:ext>
              </a:extLst>
            </p:cNvPr>
            <p:cNvCxnSpPr>
              <a:cxnSpLocks/>
            </p:cNvCxnSpPr>
            <p:nvPr/>
          </p:nvCxnSpPr>
          <p:spPr>
            <a:xfrm>
              <a:off x="900920" y="4082210"/>
              <a:ext cx="731520" cy="0"/>
            </a:xfrm>
            <a:prstGeom prst="straightConnector1">
              <a:avLst/>
            </a:prstGeom>
            <a:ln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Arrow Connector 265">
              <a:extLst>
                <a:ext uri="{FF2B5EF4-FFF2-40B4-BE49-F238E27FC236}">
                  <a16:creationId xmlns:a16="http://schemas.microsoft.com/office/drawing/2014/main" id="{86F38838-8189-4BD9-3C28-02ABCD16A713}"/>
                </a:ext>
              </a:extLst>
            </p:cNvPr>
            <p:cNvCxnSpPr>
              <a:cxnSpLocks/>
            </p:cNvCxnSpPr>
            <p:nvPr/>
          </p:nvCxnSpPr>
          <p:spPr>
            <a:xfrm>
              <a:off x="2842419" y="3933905"/>
              <a:ext cx="5943600" cy="0"/>
            </a:xfrm>
            <a:prstGeom prst="straightConnector1">
              <a:avLst/>
            </a:prstGeom>
            <a:ln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7" name="TextBox 266">
              <a:extLst>
                <a:ext uri="{FF2B5EF4-FFF2-40B4-BE49-F238E27FC236}">
                  <a16:creationId xmlns:a16="http://schemas.microsoft.com/office/drawing/2014/main" id="{D8D88DAC-084B-163B-C743-7F1BF01FC220}"/>
                </a:ext>
              </a:extLst>
            </p:cNvPr>
            <p:cNvSpPr txBox="1"/>
            <p:nvPr/>
          </p:nvSpPr>
          <p:spPr>
            <a:xfrm>
              <a:off x="4600491" y="3573359"/>
              <a:ext cx="1976164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rIns="0" rtlCol="0">
              <a:spAutoFit/>
            </a:bodyPr>
            <a:lstStyle/>
            <a:p>
              <a:pPr lvl="0" algn="ctr">
                <a:defRPr/>
              </a:pPr>
              <a:r>
                <a:rPr lang="en-US" sz="1400" i="1" dirty="0">
                  <a:latin typeface="Amazon Ember Display" panose="020F0603020204020204" pitchFamily="34" charset="0"/>
                  <a:ea typeface="Amazon Ember Display" panose="020F0603020204020204" pitchFamily="34" charset="0"/>
                  <a:cs typeface="Amazon Ember Display" panose="020F0603020204020204" pitchFamily="34" charset="0"/>
                </a:rPr>
                <a:t>Search Registry</a:t>
              </a:r>
              <a:endParaRPr kumimoji="0" lang="en-US" sz="140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endParaRPr>
            </a:p>
          </p:txBody>
        </p:sp>
        <p:cxnSp>
          <p:nvCxnSpPr>
            <p:cNvPr id="268" name="Straight Arrow Connector 267">
              <a:extLst>
                <a:ext uri="{FF2B5EF4-FFF2-40B4-BE49-F238E27FC236}">
                  <a16:creationId xmlns:a16="http://schemas.microsoft.com/office/drawing/2014/main" id="{01297201-2D23-64D6-F643-6FB10DD6F279}"/>
                </a:ext>
              </a:extLst>
            </p:cNvPr>
            <p:cNvCxnSpPr>
              <a:cxnSpLocks/>
            </p:cNvCxnSpPr>
            <p:nvPr/>
          </p:nvCxnSpPr>
          <p:spPr>
            <a:xfrm>
              <a:off x="2831912" y="4341005"/>
              <a:ext cx="5943600" cy="0"/>
            </a:xfrm>
            <a:prstGeom prst="straightConnector1">
              <a:avLst/>
            </a:prstGeom>
            <a:ln>
              <a:headEnd type="triangle" w="lg" len="lg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9" name="TextBox 268">
              <a:extLst>
                <a:ext uri="{FF2B5EF4-FFF2-40B4-BE49-F238E27FC236}">
                  <a16:creationId xmlns:a16="http://schemas.microsoft.com/office/drawing/2014/main" id="{72D6B429-7028-C4D0-36FB-DADAF2DF64A4}"/>
                </a:ext>
              </a:extLst>
            </p:cNvPr>
            <p:cNvSpPr txBox="1"/>
            <p:nvPr/>
          </p:nvSpPr>
          <p:spPr>
            <a:xfrm>
              <a:off x="4551209" y="4449795"/>
              <a:ext cx="3672343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rIns="0" rtlCol="0">
              <a:spAutoFit/>
            </a:bodyPr>
            <a:lstStyle/>
            <a:p>
              <a:pPr lvl="0" algn="ctr">
                <a:defRPr/>
              </a:pPr>
              <a:r>
                <a:rPr lang="en-US" sz="1400" i="1" dirty="0">
                  <a:latin typeface="Amazon Ember Display" panose="020F0603020204020204" pitchFamily="34" charset="0"/>
                  <a:ea typeface="Amazon Ember Display" panose="020F0603020204020204" pitchFamily="34" charset="0"/>
                  <a:cs typeface="Amazon Ember Display" panose="020F0603020204020204" pitchFamily="34" charset="0"/>
                </a:rPr>
                <a:t>Auth, URI of Agent A, MCP server B…</a:t>
              </a:r>
            </a:p>
          </p:txBody>
        </p:sp>
        <p:sp>
          <p:nvSpPr>
            <p:cNvPr id="270" name="Oval 269">
              <a:extLst>
                <a:ext uri="{FF2B5EF4-FFF2-40B4-BE49-F238E27FC236}">
                  <a16:creationId xmlns:a16="http://schemas.microsoft.com/office/drawing/2014/main" id="{59767DCE-56BA-11BF-24EE-422E85DC6ACE}"/>
                </a:ext>
              </a:extLst>
            </p:cNvPr>
            <p:cNvSpPr/>
            <p:nvPr/>
          </p:nvSpPr>
          <p:spPr>
            <a:xfrm>
              <a:off x="4525588" y="3551836"/>
              <a:ext cx="332980" cy="323463"/>
            </a:xfrm>
            <a:prstGeom prst="ellipse">
              <a:avLst/>
            </a:prstGeom>
            <a:solidFill>
              <a:srgbClr val="00B05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 Display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71" name="Oval 270">
              <a:extLst>
                <a:ext uri="{FF2B5EF4-FFF2-40B4-BE49-F238E27FC236}">
                  <a16:creationId xmlns:a16="http://schemas.microsoft.com/office/drawing/2014/main" id="{8D50D45A-8CF1-E510-E169-5AEBD16392D1}"/>
                </a:ext>
              </a:extLst>
            </p:cNvPr>
            <p:cNvSpPr/>
            <p:nvPr/>
          </p:nvSpPr>
          <p:spPr>
            <a:xfrm>
              <a:off x="4525588" y="4442672"/>
              <a:ext cx="332980" cy="323463"/>
            </a:xfrm>
            <a:prstGeom prst="ellipse">
              <a:avLst/>
            </a:prstGeom>
            <a:solidFill>
              <a:srgbClr val="00B05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 Display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73" name="Rounded Rectangle 8">
              <a:extLst>
                <a:ext uri="{FF2B5EF4-FFF2-40B4-BE49-F238E27FC236}">
                  <a16:creationId xmlns:a16="http://schemas.microsoft.com/office/drawing/2014/main" id="{87581C54-1445-56E6-62D4-651D38EAAEB5}"/>
                </a:ext>
              </a:extLst>
            </p:cNvPr>
            <p:cNvSpPr/>
            <p:nvPr/>
          </p:nvSpPr>
          <p:spPr>
            <a:xfrm>
              <a:off x="3008931" y="3499906"/>
              <a:ext cx="1360954" cy="341305"/>
            </a:xfrm>
            <a:prstGeom prst="roundRect">
              <a:avLst/>
            </a:prstGeom>
            <a:solidFill>
              <a:srgbClr val="E433FF"/>
            </a:solidFill>
            <a:ln w="317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232F3E"/>
                  </a:solidFill>
                  <a:effectLst/>
                  <a:uLnTx/>
                  <a:uFillTx/>
                  <a:latin typeface="Amazon Ember Display"/>
                  <a:ea typeface="+mn-ea"/>
                  <a:cs typeface="+mn-cs"/>
                </a:rPr>
                <a:t>OAuth token</a:t>
              </a:r>
            </a:p>
          </p:txBody>
        </p:sp>
        <p:sp>
          <p:nvSpPr>
            <p:cNvPr id="274" name="TextBox 273">
              <a:extLst>
                <a:ext uri="{FF2B5EF4-FFF2-40B4-BE49-F238E27FC236}">
                  <a16:creationId xmlns:a16="http://schemas.microsoft.com/office/drawing/2014/main" id="{59203A98-4A3A-D973-24A4-8361633B9894}"/>
                </a:ext>
              </a:extLst>
            </p:cNvPr>
            <p:cNvSpPr txBox="1"/>
            <p:nvPr/>
          </p:nvSpPr>
          <p:spPr>
            <a:xfrm>
              <a:off x="79945" y="85896"/>
              <a:ext cx="354251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rIns="0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mazon Ember Display" panose="020F0603020204020204" pitchFamily="34" charset="0"/>
                  <a:ea typeface="Amazon Ember Display" panose="020F0603020204020204" pitchFamily="34" charset="0"/>
                  <a:cs typeface="Amazon Ember Display" panose="020F0603020204020204" pitchFamily="34" charset="0"/>
                </a:rPr>
                <a:t>Publisher flow</a:t>
              </a:r>
            </a:p>
          </p:txBody>
        </p:sp>
        <p:sp>
          <p:nvSpPr>
            <p:cNvPr id="275" name="TextBox 274">
              <a:extLst>
                <a:ext uri="{FF2B5EF4-FFF2-40B4-BE49-F238E27FC236}">
                  <a16:creationId xmlns:a16="http://schemas.microsoft.com/office/drawing/2014/main" id="{8FB499C9-3B06-B035-EE0B-54C3C0D3F7B6}"/>
                </a:ext>
              </a:extLst>
            </p:cNvPr>
            <p:cNvSpPr txBox="1"/>
            <p:nvPr/>
          </p:nvSpPr>
          <p:spPr>
            <a:xfrm>
              <a:off x="-83351" y="2864778"/>
              <a:ext cx="354251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rIns="0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mazon Ember Display" panose="020F0603020204020204" pitchFamily="34" charset="0"/>
                  <a:ea typeface="Amazon Ember Display" panose="020F0603020204020204" pitchFamily="34" charset="0"/>
                  <a:cs typeface="Amazon Ember Display" panose="020F0603020204020204" pitchFamily="34" charset="0"/>
                </a:rPr>
                <a:t>Consumer flow</a:t>
              </a:r>
            </a:p>
          </p:txBody>
        </p:sp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E1E514B2-0BC2-5F0D-176E-E0969FCA69E4}"/>
                </a:ext>
              </a:extLst>
            </p:cNvPr>
            <p:cNvSpPr txBox="1"/>
            <p:nvPr/>
          </p:nvSpPr>
          <p:spPr>
            <a:xfrm>
              <a:off x="10306483" y="6291310"/>
              <a:ext cx="192024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rIns="0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mazon Ember Display" panose="020F0603020204020204" pitchFamily="34" charset="0"/>
                  <a:ea typeface="Amazon Ember Display" panose="020F0603020204020204" pitchFamily="34" charset="0"/>
                  <a:cs typeface="Amazon Ember Display" panose="020F0603020204020204" pitchFamily="34" charset="0"/>
                </a:rPr>
                <a:t>Admin flow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18060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B2ADB-5BEA-00E3-ABCE-72B52AC85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2" name="Group 261">
            <a:extLst>
              <a:ext uri="{FF2B5EF4-FFF2-40B4-BE49-F238E27FC236}">
                <a16:creationId xmlns:a16="http://schemas.microsoft.com/office/drawing/2014/main" id="{28178127-C1F7-062D-954E-5AF85A1209CB}"/>
              </a:ext>
            </a:extLst>
          </p:cNvPr>
          <p:cNvGrpSpPr/>
          <p:nvPr/>
        </p:nvGrpSpPr>
        <p:grpSpPr>
          <a:xfrm>
            <a:off x="3492" y="3278394"/>
            <a:ext cx="1202054" cy="754160"/>
            <a:chOff x="9877907" y="5916376"/>
            <a:chExt cx="1202054" cy="754160"/>
          </a:xfrm>
        </p:grpSpPr>
        <p:pic>
          <p:nvPicPr>
            <p:cNvPr id="263" name="Graphic 22" descr="User resource icon for the General Icons category.">
              <a:extLst>
                <a:ext uri="{FF2B5EF4-FFF2-40B4-BE49-F238E27FC236}">
                  <a16:creationId xmlns:a16="http://schemas.microsoft.com/office/drawing/2014/main" id="{8B2BAAC8-323D-602E-F67C-8F6427DE88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 bwMode="auto">
            <a:xfrm>
              <a:off x="10251625" y="5916376"/>
              <a:ext cx="466344" cy="466344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4" name="TextBox 263">
              <a:extLst>
                <a:ext uri="{FF2B5EF4-FFF2-40B4-BE49-F238E27FC236}">
                  <a16:creationId xmlns:a16="http://schemas.microsoft.com/office/drawing/2014/main" id="{D2B281BE-5660-7D68-98E9-39695AEF8FAB}"/>
                </a:ext>
              </a:extLst>
            </p:cNvPr>
            <p:cNvSpPr txBox="1"/>
            <p:nvPr/>
          </p:nvSpPr>
          <p:spPr>
            <a:xfrm>
              <a:off x="9877907" y="6441936"/>
              <a:ext cx="1202054" cy="228600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mazon Ember Display" panose="020F0603020204020204" pitchFamily="34" charset="0"/>
                  <a:ea typeface="Amazon Ember Display" panose="020F0603020204020204" pitchFamily="34" charset="0"/>
                  <a:cs typeface="Amazon Ember Display" panose="020F0603020204020204" pitchFamily="34" charset="0"/>
                </a:rPr>
                <a:t>Consumer</a:t>
              </a:r>
            </a:p>
          </p:txBody>
        </p:sp>
      </p:grpSp>
      <p:sp>
        <p:nvSpPr>
          <p:cNvPr id="274" name="TextBox 273">
            <a:extLst>
              <a:ext uri="{FF2B5EF4-FFF2-40B4-BE49-F238E27FC236}">
                <a16:creationId xmlns:a16="http://schemas.microsoft.com/office/drawing/2014/main" id="{3E01D74C-DEF7-70E8-3E1E-9A024EE2B4FD}"/>
              </a:ext>
            </a:extLst>
          </p:cNvPr>
          <p:cNvSpPr txBox="1"/>
          <p:nvPr/>
        </p:nvSpPr>
        <p:spPr>
          <a:xfrm>
            <a:off x="-25195" y="250344"/>
            <a:ext cx="3542515" cy="369332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Publisher flow</a:t>
            </a:r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10816F14-8276-6593-E929-B81468051E62}"/>
              </a:ext>
            </a:extLst>
          </p:cNvPr>
          <p:cNvSpPr txBox="1"/>
          <p:nvPr/>
        </p:nvSpPr>
        <p:spPr>
          <a:xfrm>
            <a:off x="-83351" y="2398053"/>
            <a:ext cx="3542515" cy="369332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Consumer flow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05B02B1-7A00-4DE4-A5C6-102BC3B1949E}"/>
              </a:ext>
            </a:extLst>
          </p:cNvPr>
          <p:cNvGrpSpPr/>
          <p:nvPr/>
        </p:nvGrpSpPr>
        <p:grpSpPr>
          <a:xfrm>
            <a:off x="111227" y="210212"/>
            <a:ext cx="12372671" cy="6553910"/>
            <a:chOff x="111227" y="210212"/>
            <a:chExt cx="12372671" cy="6553910"/>
          </a:xfrm>
        </p:grpSpPr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71F4CD31-C056-0231-F418-4BE7D6089D0B}"/>
                </a:ext>
              </a:extLst>
            </p:cNvPr>
            <p:cNvSpPr txBox="1"/>
            <p:nvPr/>
          </p:nvSpPr>
          <p:spPr>
            <a:xfrm>
              <a:off x="10563658" y="6310360"/>
              <a:ext cx="192024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rIns="0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mazon Ember Display" panose="020F0603020204020204" pitchFamily="34" charset="0"/>
                  <a:ea typeface="Amazon Ember Display" panose="020F0603020204020204" pitchFamily="34" charset="0"/>
                  <a:cs typeface="Amazon Ember Display" panose="020F0603020204020204" pitchFamily="34" charset="0"/>
                </a:rPr>
                <a:t>Admin flow</a:t>
              </a:r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2655F9FA-F6D8-BFF5-6987-DD0E30112828}"/>
                </a:ext>
              </a:extLst>
            </p:cNvPr>
            <p:cNvGrpSpPr/>
            <p:nvPr/>
          </p:nvGrpSpPr>
          <p:grpSpPr>
            <a:xfrm>
              <a:off x="111227" y="210212"/>
              <a:ext cx="11288523" cy="6553910"/>
              <a:chOff x="111227" y="210212"/>
              <a:chExt cx="11288523" cy="6553910"/>
            </a:xfrm>
          </p:grpSpPr>
          <p:grpSp>
            <p:nvGrpSpPr>
              <p:cNvPr id="120" name="Group 119">
                <a:extLst>
                  <a:ext uri="{FF2B5EF4-FFF2-40B4-BE49-F238E27FC236}">
                    <a16:creationId xmlns:a16="http://schemas.microsoft.com/office/drawing/2014/main" id="{34249A09-21FF-431F-48C7-0BBFC36D6DA9}"/>
                  </a:ext>
                </a:extLst>
              </p:cNvPr>
              <p:cNvGrpSpPr/>
              <p:nvPr/>
            </p:nvGrpSpPr>
            <p:grpSpPr>
              <a:xfrm>
                <a:off x="111227" y="1016215"/>
                <a:ext cx="1202054" cy="886333"/>
                <a:chOff x="317554" y="2439728"/>
                <a:chExt cx="1202054" cy="886333"/>
              </a:xfrm>
            </p:grpSpPr>
            <p:grpSp>
              <p:nvGrpSpPr>
                <p:cNvPr id="173" name="Group 172">
                  <a:extLst>
                    <a:ext uri="{FF2B5EF4-FFF2-40B4-BE49-F238E27FC236}">
                      <a16:creationId xmlns:a16="http://schemas.microsoft.com/office/drawing/2014/main" id="{265F3D60-C8D3-37D6-2580-46AC81120E91}"/>
                    </a:ext>
                  </a:extLst>
                </p:cNvPr>
                <p:cNvGrpSpPr/>
                <p:nvPr/>
              </p:nvGrpSpPr>
              <p:grpSpPr>
                <a:xfrm>
                  <a:off x="724921" y="2439728"/>
                  <a:ext cx="557784" cy="557784"/>
                  <a:chOff x="5872152" y="185257"/>
                  <a:chExt cx="927581" cy="645686"/>
                </a:xfrm>
              </p:grpSpPr>
              <p:sp>
                <p:nvSpPr>
                  <p:cNvPr id="175" name="Freeform: Shape 43">
                    <a:extLst>
                      <a:ext uri="{FF2B5EF4-FFF2-40B4-BE49-F238E27FC236}">
                        <a16:creationId xmlns:a16="http://schemas.microsoft.com/office/drawing/2014/main" id="{5B6C79D5-5341-D797-E53C-1E6CD1401071}"/>
                      </a:ext>
                    </a:extLst>
                  </p:cNvPr>
                  <p:cNvSpPr/>
                  <p:nvPr/>
                </p:nvSpPr>
                <p:spPr>
                  <a:xfrm>
                    <a:off x="5961716" y="185257"/>
                    <a:ext cx="254169" cy="254169"/>
                  </a:xfrm>
                  <a:custGeom>
                    <a:avLst/>
                    <a:gdLst>
                      <a:gd name="connsiteX0" fmla="*/ 4828 w 135174"/>
                      <a:gd name="connsiteY0" fmla="*/ 67909 h 135174"/>
                      <a:gd name="connsiteX1" fmla="*/ 67909 w 135174"/>
                      <a:gd name="connsiteY1" fmla="*/ 4828 h 135174"/>
                      <a:gd name="connsiteX2" fmla="*/ 130991 w 135174"/>
                      <a:gd name="connsiteY2" fmla="*/ 67909 h 135174"/>
                      <a:gd name="connsiteX3" fmla="*/ 67909 w 135174"/>
                      <a:gd name="connsiteY3" fmla="*/ 130991 h 135174"/>
                      <a:gd name="connsiteX4" fmla="*/ 4828 w 135174"/>
                      <a:gd name="connsiteY4" fmla="*/ 67909 h 13517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5174" h="135174">
                        <a:moveTo>
                          <a:pt x="4828" y="67909"/>
                        </a:moveTo>
                        <a:cubicBezTo>
                          <a:pt x="4828" y="33150"/>
                          <a:pt x="33150" y="4828"/>
                          <a:pt x="67909" y="4828"/>
                        </a:cubicBezTo>
                        <a:cubicBezTo>
                          <a:pt x="102668" y="4828"/>
                          <a:pt x="130991" y="33150"/>
                          <a:pt x="130991" y="67909"/>
                        </a:cubicBezTo>
                        <a:cubicBezTo>
                          <a:pt x="130991" y="102668"/>
                          <a:pt x="102668" y="130991"/>
                          <a:pt x="67909" y="130991"/>
                        </a:cubicBezTo>
                        <a:cubicBezTo>
                          <a:pt x="33150" y="130991"/>
                          <a:pt x="4828" y="102668"/>
                          <a:pt x="4828" y="67909"/>
                        </a:cubicBezTo>
                      </a:path>
                    </a:pathLst>
                  </a:custGeom>
                  <a:noFill/>
                  <a:ln w="19050" cap="flat">
                    <a:solidFill>
                      <a:srgbClr val="AD5CFF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Amazon Ember Display"/>
                    </a:endParaRPr>
                  </a:p>
                </p:txBody>
              </p:sp>
              <p:sp>
                <p:nvSpPr>
                  <p:cNvPr id="176" name="Freeform: Shape 49">
                    <a:extLst>
                      <a:ext uri="{FF2B5EF4-FFF2-40B4-BE49-F238E27FC236}">
                        <a16:creationId xmlns:a16="http://schemas.microsoft.com/office/drawing/2014/main" id="{916DB50B-B704-A3A7-8362-35AA70BF98EC}"/>
                      </a:ext>
                    </a:extLst>
                  </p:cNvPr>
                  <p:cNvSpPr/>
                  <p:nvPr/>
                </p:nvSpPr>
                <p:spPr>
                  <a:xfrm>
                    <a:off x="5872152" y="429652"/>
                    <a:ext cx="338891" cy="229962"/>
                  </a:xfrm>
                  <a:custGeom>
                    <a:avLst/>
                    <a:gdLst>
                      <a:gd name="connsiteX0" fmla="*/ 175083 w 180232"/>
                      <a:gd name="connsiteY0" fmla="*/ 119452 h 122300"/>
                      <a:gd name="connsiteX1" fmla="*/ 4828 w 180232"/>
                      <a:gd name="connsiteY1" fmla="*/ 120096 h 122300"/>
                      <a:gd name="connsiteX2" fmla="*/ 117795 w 180232"/>
                      <a:gd name="connsiteY2" fmla="*/ 4876 h 122300"/>
                      <a:gd name="connsiteX3" fmla="*/ 176693 w 180232"/>
                      <a:gd name="connsiteY3" fmla="*/ 23543 h 1223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80232" h="122300">
                        <a:moveTo>
                          <a:pt x="175083" y="119452"/>
                        </a:moveTo>
                        <a:lnTo>
                          <a:pt x="4828" y="120096"/>
                        </a:lnTo>
                        <a:cubicBezTo>
                          <a:pt x="11908" y="3267"/>
                          <a:pt x="117795" y="4876"/>
                          <a:pt x="117795" y="4876"/>
                        </a:cubicBezTo>
                        <a:cubicBezTo>
                          <a:pt x="117795" y="4876"/>
                          <a:pt x="147727" y="2945"/>
                          <a:pt x="176693" y="23543"/>
                        </a:cubicBezTo>
                      </a:path>
                    </a:pathLst>
                  </a:custGeom>
                  <a:noFill/>
                  <a:ln w="19050" cap="flat">
                    <a:solidFill>
                      <a:srgbClr val="AD5CFF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Amazon Ember Display"/>
                    </a:endParaRPr>
                  </a:p>
                </p:txBody>
              </p:sp>
              <p:grpSp>
                <p:nvGrpSpPr>
                  <p:cNvPr id="177" name="Group 176">
                    <a:extLst>
                      <a:ext uri="{FF2B5EF4-FFF2-40B4-BE49-F238E27FC236}">
                        <a16:creationId xmlns:a16="http://schemas.microsoft.com/office/drawing/2014/main" id="{C114DCBC-DB3C-6670-B9D3-C2D7F64C8688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6194204" y="415150"/>
                    <a:ext cx="605529" cy="415793"/>
                    <a:chOff x="8047698" y="1709044"/>
                    <a:chExt cx="482767" cy="331500"/>
                  </a:xfrm>
                </p:grpSpPr>
                <p:sp>
                  <p:nvSpPr>
                    <p:cNvPr id="178" name="Freeform: Shape 51">
                      <a:extLst>
                        <a:ext uri="{FF2B5EF4-FFF2-40B4-BE49-F238E27FC236}">
                          <a16:creationId xmlns:a16="http://schemas.microsoft.com/office/drawing/2014/main" id="{7F5960BD-C780-F67B-458A-E0D9C6D6F91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47698" y="1998704"/>
                      <a:ext cx="482767" cy="41840"/>
                    </a:xfrm>
                    <a:custGeom>
                      <a:avLst/>
                      <a:gdLst>
                        <a:gd name="connsiteX0" fmla="*/ 4828 w 482766"/>
                        <a:gd name="connsiteY0" fmla="*/ 4828 h 41839"/>
                        <a:gd name="connsiteX1" fmla="*/ 4828 w 482766"/>
                        <a:gd name="connsiteY1" fmla="*/ 28322 h 41839"/>
                        <a:gd name="connsiteX2" fmla="*/ 6437 w 482766"/>
                        <a:gd name="connsiteY2" fmla="*/ 29610 h 41839"/>
                        <a:gd name="connsiteX3" fmla="*/ 32828 w 482766"/>
                        <a:gd name="connsiteY3" fmla="*/ 38621 h 41839"/>
                        <a:gd name="connsiteX4" fmla="*/ 455410 w 482766"/>
                        <a:gd name="connsiteY4" fmla="*/ 38621 h 41839"/>
                        <a:gd name="connsiteX5" fmla="*/ 477295 w 482766"/>
                        <a:gd name="connsiteY5" fmla="*/ 30897 h 41839"/>
                        <a:gd name="connsiteX6" fmla="*/ 480192 w 482766"/>
                        <a:gd name="connsiteY6" fmla="*/ 28322 h 41839"/>
                        <a:gd name="connsiteX7" fmla="*/ 480192 w 482766"/>
                        <a:gd name="connsiteY7" fmla="*/ 4828 h 41839"/>
                        <a:gd name="connsiteX8" fmla="*/ 4828 w 482766"/>
                        <a:gd name="connsiteY8" fmla="*/ 4828 h 4183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482766" h="41839">
                          <a:moveTo>
                            <a:pt x="4828" y="4828"/>
                          </a:moveTo>
                          <a:lnTo>
                            <a:pt x="4828" y="28322"/>
                          </a:lnTo>
                          <a:lnTo>
                            <a:pt x="6437" y="29610"/>
                          </a:lnTo>
                          <a:cubicBezTo>
                            <a:pt x="14161" y="35403"/>
                            <a:pt x="23495" y="38621"/>
                            <a:pt x="32828" y="38621"/>
                          </a:cubicBezTo>
                          <a:lnTo>
                            <a:pt x="455410" y="38621"/>
                          </a:lnTo>
                          <a:cubicBezTo>
                            <a:pt x="463456" y="38621"/>
                            <a:pt x="471180" y="36047"/>
                            <a:pt x="477295" y="30897"/>
                          </a:cubicBezTo>
                          <a:lnTo>
                            <a:pt x="480192" y="28322"/>
                          </a:lnTo>
                          <a:lnTo>
                            <a:pt x="480192" y="4828"/>
                          </a:lnTo>
                          <a:lnTo>
                            <a:pt x="4828" y="4828"/>
                          </a:lnTo>
                          <a:close/>
                        </a:path>
                      </a:pathLst>
                    </a:custGeom>
                    <a:noFill/>
                    <a:ln w="19050" cap="flat">
                      <a:solidFill>
                        <a:srgbClr val="FFFFFF"/>
                      </a:solidFill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Amazon Ember Display"/>
                      </a:endParaRPr>
                    </a:p>
                  </p:txBody>
                </p:sp>
                <p:sp>
                  <p:nvSpPr>
                    <p:cNvPr id="179" name="Freeform: Shape 52">
                      <a:extLst>
                        <a:ext uri="{FF2B5EF4-FFF2-40B4-BE49-F238E27FC236}">
                          <a16:creationId xmlns:a16="http://schemas.microsoft.com/office/drawing/2014/main" id="{49F34AC2-E187-7C12-BA7B-0B2F9311F8D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13998" y="1731251"/>
                      <a:ext cx="354029" cy="244602"/>
                    </a:xfrm>
                    <a:custGeom>
                      <a:avLst/>
                      <a:gdLst>
                        <a:gd name="connsiteX0" fmla="*/ 351776 w 354028"/>
                        <a:gd name="connsiteY0" fmla="*/ 233337 h 244601"/>
                        <a:gd name="connsiteX1" fmla="*/ 342121 w 354028"/>
                        <a:gd name="connsiteY1" fmla="*/ 242993 h 244601"/>
                        <a:gd name="connsiteX2" fmla="*/ 14483 w 354028"/>
                        <a:gd name="connsiteY2" fmla="*/ 242993 h 244601"/>
                        <a:gd name="connsiteX3" fmla="*/ 4828 w 354028"/>
                        <a:gd name="connsiteY3" fmla="*/ 233337 h 244601"/>
                        <a:gd name="connsiteX4" fmla="*/ 4828 w 354028"/>
                        <a:gd name="connsiteY4" fmla="*/ 14483 h 244601"/>
                        <a:gd name="connsiteX5" fmla="*/ 14483 w 354028"/>
                        <a:gd name="connsiteY5" fmla="*/ 4828 h 244601"/>
                        <a:gd name="connsiteX6" fmla="*/ 340190 w 354028"/>
                        <a:gd name="connsiteY6" fmla="*/ 4828 h 244601"/>
                        <a:gd name="connsiteX7" fmla="*/ 349845 w 354028"/>
                        <a:gd name="connsiteY7" fmla="*/ 14483 h 244601"/>
                        <a:gd name="connsiteX8" fmla="*/ 351776 w 354028"/>
                        <a:gd name="connsiteY8" fmla="*/ 233337 h 24460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354028" h="244601">
                          <a:moveTo>
                            <a:pt x="351776" y="233337"/>
                          </a:moveTo>
                          <a:cubicBezTo>
                            <a:pt x="351776" y="238487"/>
                            <a:pt x="347592" y="242993"/>
                            <a:pt x="342121" y="242993"/>
                          </a:cubicBezTo>
                          <a:lnTo>
                            <a:pt x="14483" y="242993"/>
                          </a:lnTo>
                          <a:cubicBezTo>
                            <a:pt x="9333" y="242993"/>
                            <a:pt x="4828" y="238809"/>
                            <a:pt x="4828" y="233337"/>
                          </a:cubicBezTo>
                          <a:lnTo>
                            <a:pt x="4828" y="14483"/>
                          </a:lnTo>
                          <a:cubicBezTo>
                            <a:pt x="4828" y="9333"/>
                            <a:pt x="9012" y="4828"/>
                            <a:pt x="14483" y="4828"/>
                          </a:cubicBezTo>
                          <a:lnTo>
                            <a:pt x="340190" y="4828"/>
                          </a:lnTo>
                          <a:cubicBezTo>
                            <a:pt x="345339" y="4828"/>
                            <a:pt x="349845" y="9012"/>
                            <a:pt x="349845" y="14483"/>
                          </a:cubicBezTo>
                          <a:lnTo>
                            <a:pt x="351776" y="233337"/>
                          </a:lnTo>
                          <a:close/>
                        </a:path>
                      </a:pathLst>
                    </a:custGeom>
                    <a:noFill/>
                    <a:ln w="19050" cap="flat">
                      <a:solidFill>
                        <a:srgbClr val="FFFFFF"/>
                      </a:solidFill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Amazon Ember Display"/>
                      </a:endParaRPr>
                    </a:p>
                  </p:txBody>
                </p:sp>
                <p:sp>
                  <p:nvSpPr>
                    <p:cNvPr id="180" name="Freeform: Shape 53">
                      <a:extLst>
                        <a:ext uri="{FF2B5EF4-FFF2-40B4-BE49-F238E27FC236}">
                          <a16:creationId xmlns:a16="http://schemas.microsoft.com/office/drawing/2014/main" id="{CD3868F3-8C7E-4F2E-2757-7DF4684688A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89216" y="1709044"/>
                      <a:ext cx="402306" cy="296097"/>
                    </a:xfrm>
                    <a:custGeom>
                      <a:avLst/>
                      <a:gdLst>
                        <a:gd name="connsiteX0" fmla="*/ 398765 w 402305"/>
                        <a:gd name="connsiteY0" fmla="*/ 283545 h 296096"/>
                        <a:gd name="connsiteX1" fmla="*/ 389110 w 402305"/>
                        <a:gd name="connsiteY1" fmla="*/ 293200 h 296096"/>
                        <a:gd name="connsiteX2" fmla="*/ 14483 w 402305"/>
                        <a:gd name="connsiteY2" fmla="*/ 293200 h 296096"/>
                        <a:gd name="connsiteX3" fmla="*/ 4828 w 402305"/>
                        <a:gd name="connsiteY3" fmla="*/ 283545 h 296096"/>
                        <a:gd name="connsiteX4" fmla="*/ 4828 w 402305"/>
                        <a:gd name="connsiteY4" fmla="*/ 14483 h 296096"/>
                        <a:gd name="connsiteX5" fmla="*/ 14483 w 402305"/>
                        <a:gd name="connsiteY5" fmla="*/ 4828 h 296096"/>
                        <a:gd name="connsiteX6" fmla="*/ 389110 w 402305"/>
                        <a:gd name="connsiteY6" fmla="*/ 4828 h 296096"/>
                        <a:gd name="connsiteX7" fmla="*/ 398765 w 402305"/>
                        <a:gd name="connsiteY7" fmla="*/ 14483 h 296096"/>
                        <a:gd name="connsiteX8" fmla="*/ 398765 w 402305"/>
                        <a:gd name="connsiteY8" fmla="*/ 283545 h 29609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402305" h="296096">
                          <a:moveTo>
                            <a:pt x="398765" y="283545"/>
                          </a:moveTo>
                          <a:cubicBezTo>
                            <a:pt x="398765" y="288695"/>
                            <a:pt x="394581" y="293200"/>
                            <a:pt x="389110" y="293200"/>
                          </a:cubicBezTo>
                          <a:lnTo>
                            <a:pt x="14483" y="293200"/>
                          </a:lnTo>
                          <a:cubicBezTo>
                            <a:pt x="9333" y="293200"/>
                            <a:pt x="4828" y="289016"/>
                            <a:pt x="4828" y="283545"/>
                          </a:cubicBezTo>
                          <a:lnTo>
                            <a:pt x="4828" y="14483"/>
                          </a:lnTo>
                          <a:cubicBezTo>
                            <a:pt x="4828" y="9333"/>
                            <a:pt x="9012" y="4828"/>
                            <a:pt x="14483" y="4828"/>
                          </a:cubicBezTo>
                          <a:lnTo>
                            <a:pt x="389110" y="4828"/>
                          </a:lnTo>
                          <a:cubicBezTo>
                            <a:pt x="394260" y="4828"/>
                            <a:pt x="398765" y="9012"/>
                            <a:pt x="398765" y="14483"/>
                          </a:cubicBezTo>
                          <a:lnTo>
                            <a:pt x="398765" y="283545"/>
                          </a:lnTo>
                          <a:close/>
                        </a:path>
                      </a:pathLst>
                    </a:custGeom>
                    <a:noFill/>
                    <a:ln w="19050" cap="flat">
                      <a:solidFill>
                        <a:srgbClr val="FFFFFF"/>
                      </a:solidFill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Amazon Ember Display"/>
                      </a:endParaRPr>
                    </a:p>
                  </p:txBody>
                </p:sp>
                <p:sp>
                  <p:nvSpPr>
                    <p:cNvPr id="181" name="Freeform: Shape 54">
                      <a:extLst>
                        <a:ext uri="{FF2B5EF4-FFF2-40B4-BE49-F238E27FC236}">
                          <a16:creationId xmlns:a16="http://schemas.microsoft.com/office/drawing/2014/main" id="{A199D3C0-C827-9E62-9E82-8FA431D9F4D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57219" y="1765367"/>
                      <a:ext cx="61150" cy="177014"/>
                    </a:xfrm>
                    <a:custGeom>
                      <a:avLst/>
                      <a:gdLst>
                        <a:gd name="connsiteX0" fmla="*/ 56966 w 61150"/>
                        <a:gd name="connsiteY0" fmla="*/ 4828 h 177014"/>
                        <a:gd name="connsiteX1" fmla="*/ 4828 w 61150"/>
                        <a:gd name="connsiteY1" fmla="*/ 175083 h 17701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61150" h="177014">
                          <a:moveTo>
                            <a:pt x="56966" y="4828"/>
                          </a:moveTo>
                          <a:lnTo>
                            <a:pt x="4828" y="175083"/>
                          </a:lnTo>
                        </a:path>
                      </a:pathLst>
                    </a:custGeom>
                    <a:ln w="19050" cap="flat">
                      <a:solidFill>
                        <a:srgbClr val="AD5CFF"/>
                      </a:solidFill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Amazon Ember Display"/>
                      </a:endParaRPr>
                    </a:p>
                  </p:txBody>
                </p:sp>
                <p:sp>
                  <p:nvSpPr>
                    <p:cNvPr id="182" name="Freeform: Shape 55">
                      <a:extLst>
                        <a:ext uri="{FF2B5EF4-FFF2-40B4-BE49-F238E27FC236}">
                          <a16:creationId xmlns:a16="http://schemas.microsoft.com/office/drawing/2014/main" id="{DD27C26C-DDEB-79D6-688F-F74E41E870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78689" y="1804953"/>
                      <a:ext cx="67587" cy="80461"/>
                    </a:xfrm>
                    <a:custGeom>
                      <a:avLst/>
                      <a:gdLst>
                        <a:gd name="connsiteX0" fmla="*/ 65013 w 67587"/>
                        <a:gd name="connsiteY0" fmla="*/ 4828 h 80461"/>
                        <a:gd name="connsiteX1" fmla="*/ 4828 w 67587"/>
                        <a:gd name="connsiteY1" fmla="*/ 37978 h 80461"/>
                        <a:gd name="connsiteX2" fmla="*/ 4828 w 67587"/>
                        <a:gd name="connsiteY2" fmla="*/ 45702 h 80461"/>
                        <a:gd name="connsiteX3" fmla="*/ 65013 w 67587"/>
                        <a:gd name="connsiteY3" fmla="*/ 77565 h 804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67587" h="80461">
                          <a:moveTo>
                            <a:pt x="65013" y="4828"/>
                          </a:moveTo>
                          <a:lnTo>
                            <a:pt x="4828" y="37978"/>
                          </a:lnTo>
                          <a:lnTo>
                            <a:pt x="4828" y="45702"/>
                          </a:lnTo>
                          <a:lnTo>
                            <a:pt x="65013" y="77565"/>
                          </a:lnTo>
                        </a:path>
                      </a:pathLst>
                    </a:custGeom>
                    <a:noFill/>
                    <a:ln w="19050" cap="flat">
                      <a:solidFill>
                        <a:srgbClr val="AD5CFF"/>
                      </a:solidFill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Amazon Ember Display"/>
                      </a:endParaRPr>
                    </a:p>
                  </p:txBody>
                </p:sp>
                <p:sp>
                  <p:nvSpPr>
                    <p:cNvPr id="183" name="Freeform: Shape 58">
                      <a:extLst>
                        <a:ext uri="{FF2B5EF4-FFF2-40B4-BE49-F238E27FC236}">
                          <a16:creationId xmlns:a16="http://schemas.microsoft.com/office/drawing/2014/main" id="{50727628-F23D-A0CC-1190-D3056FCBA19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32209" y="1804953"/>
                      <a:ext cx="67587" cy="80461"/>
                    </a:xfrm>
                    <a:custGeom>
                      <a:avLst/>
                      <a:gdLst>
                        <a:gd name="connsiteX0" fmla="*/ 4828 w 67587"/>
                        <a:gd name="connsiteY0" fmla="*/ 4828 h 80461"/>
                        <a:gd name="connsiteX1" fmla="*/ 65334 w 67587"/>
                        <a:gd name="connsiteY1" fmla="*/ 37978 h 80461"/>
                        <a:gd name="connsiteX2" fmla="*/ 65334 w 67587"/>
                        <a:gd name="connsiteY2" fmla="*/ 45702 h 80461"/>
                        <a:gd name="connsiteX3" fmla="*/ 4828 w 67587"/>
                        <a:gd name="connsiteY3" fmla="*/ 77565 h 804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67587" h="80461">
                          <a:moveTo>
                            <a:pt x="4828" y="4828"/>
                          </a:moveTo>
                          <a:lnTo>
                            <a:pt x="65334" y="37978"/>
                          </a:lnTo>
                          <a:lnTo>
                            <a:pt x="65334" y="45702"/>
                          </a:lnTo>
                          <a:lnTo>
                            <a:pt x="4828" y="77565"/>
                          </a:lnTo>
                        </a:path>
                      </a:pathLst>
                    </a:custGeom>
                    <a:noFill/>
                    <a:ln w="19050" cap="flat">
                      <a:solidFill>
                        <a:srgbClr val="AD5CFF"/>
                      </a:solidFill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Amazon Ember Display"/>
                      </a:endParaRPr>
                    </a:p>
                  </p:txBody>
                </p:sp>
              </p:grpSp>
            </p:grpSp>
            <p:sp>
              <p:nvSpPr>
                <p:cNvPr id="174" name="TextBox 173">
                  <a:extLst>
                    <a:ext uri="{FF2B5EF4-FFF2-40B4-BE49-F238E27FC236}">
                      <a16:creationId xmlns:a16="http://schemas.microsoft.com/office/drawing/2014/main" id="{D208A953-2388-4B1A-2C45-D0F1F514C523}"/>
                    </a:ext>
                  </a:extLst>
                </p:cNvPr>
                <p:cNvSpPr txBox="1"/>
                <p:nvPr/>
              </p:nvSpPr>
              <p:spPr>
                <a:xfrm>
                  <a:off x="317554" y="2932960"/>
                  <a:ext cx="1202054" cy="393101"/>
                </a:xfrm>
                <a:prstGeom prst="rect">
                  <a:avLst/>
                </a:prstGeom>
              </p:spPr>
              <p:txBody>
                <a:bodyPr vert="horz" wrap="none" lIns="91440" tIns="45720" rIns="91440" bIns="45720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Amazon Ember Display" panose="020F0603020204020204" pitchFamily="34" charset="0"/>
                      <a:ea typeface="Amazon Ember Display" panose="020F0603020204020204" pitchFamily="34" charset="0"/>
                      <a:cs typeface="Amazon Ember Display" panose="020F0603020204020204" pitchFamily="34" charset="0"/>
                    </a:rPr>
                    <a:t>Agent/Tool</a:t>
                  </a:r>
                </a:p>
                <a:p>
                  <a:pPr marL="0" marR="0" lvl="0" indent="0" algn="ctr" defTabSz="91440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Amazon Ember Display" panose="020F0603020204020204" pitchFamily="34" charset="0"/>
                      <a:ea typeface="Amazon Ember Display" panose="020F0603020204020204" pitchFamily="34" charset="0"/>
                      <a:cs typeface="Amazon Ember Display" panose="020F0603020204020204" pitchFamily="34" charset="0"/>
                    </a:rPr>
                    <a:t>Developer</a:t>
                  </a:r>
                </a:p>
              </p:txBody>
            </p:sp>
          </p:grpSp>
          <p:cxnSp>
            <p:nvCxnSpPr>
              <p:cNvPr id="122" name="Straight Arrow Connector 121">
                <a:extLst>
                  <a:ext uri="{FF2B5EF4-FFF2-40B4-BE49-F238E27FC236}">
                    <a16:creationId xmlns:a16="http://schemas.microsoft.com/office/drawing/2014/main" id="{07DF0EC8-FE7F-793B-AE34-F5EEB0E1EE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59344" y="1340507"/>
                <a:ext cx="2286000" cy="0"/>
              </a:xfrm>
              <a:prstGeom prst="straightConnector1">
                <a:avLst/>
              </a:prstGeom>
              <a:ln>
                <a:headEnd type="none"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" name="Straight Arrow Connector 224">
                <a:extLst>
                  <a:ext uri="{FF2B5EF4-FFF2-40B4-BE49-F238E27FC236}">
                    <a16:creationId xmlns:a16="http://schemas.microsoft.com/office/drawing/2014/main" id="{34464E06-3A3C-C167-E2F1-618EDB408A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43883" y="2001206"/>
                <a:ext cx="2286000" cy="0"/>
              </a:xfrm>
              <a:prstGeom prst="straightConnector1">
                <a:avLst/>
              </a:prstGeom>
              <a:ln>
                <a:headEnd type="none"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27" name="Group 226">
                <a:extLst>
                  <a:ext uri="{FF2B5EF4-FFF2-40B4-BE49-F238E27FC236}">
                    <a16:creationId xmlns:a16="http://schemas.microsoft.com/office/drawing/2014/main" id="{BA3F9CF7-AF4E-8345-89C0-71CAAEC92C9C}"/>
                  </a:ext>
                </a:extLst>
              </p:cNvPr>
              <p:cNvGrpSpPr/>
              <p:nvPr/>
            </p:nvGrpSpPr>
            <p:grpSpPr>
              <a:xfrm>
                <a:off x="1403285" y="954595"/>
                <a:ext cx="2276325" cy="323463"/>
                <a:chOff x="1346135" y="1184178"/>
                <a:chExt cx="2276325" cy="323463"/>
              </a:xfrm>
            </p:grpSpPr>
            <p:sp>
              <p:nvSpPr>
                <p:cNvPr id="123" name="Oval 122">
                  <a:extLst>
                    <a:ext uri="{FF2B5EF4-FFF2-40B4-BE49-F238E27FC236}">
                      <a16:creationId xmlns:a16="http://schemas.microsoft.com/office/drawing/2014/main" id="{D76E84BA-BFB3-9964-D1CA-FD6DE30E1FC5}"/>
                    </a:ext>
                  </a:extLst>
                </p:cNvPr>
                <p:cNvSpPr/>
                <p:nvPr/>
              </p:nvSpPr>
              <p:spPr>
                <a:xfrm>
                  <a:off x="1346135" y="1184178"/>
                  <a:ext cx="332980" cy="323463"/>
                </a:xfrm>
                <a:prstGeom prst="ellipse">
                  <a:avLst/>
                </a:prstGeom>
                <a:solidFill>
                  <a:srgbClr val="00B05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sz="1400" kern="0" dirty="0">
                      <a:solidFill>
                        <a:srgbClr val="000000"/>
                      </a:solidFill>
                      <a:latin typeface="Amazon Ember Display"/>
                    </a:rPr>
                    <a:t>2</a:t>
                  </a:r>
                  <a:endPara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mazon Ember Display"/>
                    <a:ea typeface="+mn-ea"/>
                    <a:cs typeface="+mn-cs"/>
                  </a:endParaRPr>
                </a:p>
              </p:txBody>
            </p:sp>
            <p:sp>
              <p:nvSpPr>
                <p:cNvPr id="226" name="TextBox 225">
                  <a:extLst>
                    <a:ext uri="{FF2B5EF4-FFF2-40B4-BE49-F238E27FC236}">
                      <a16:creationId xmlns:a16="http://schemas.microsoft.com/office/drawing/2014/main" id="{446A3D91-E7FB-CD43-D685-48725F96604B}"/>
                    </a:ext>
                  </a:extLst>
                </p:cNvPr>
                <p:cNvSpPr txBox="1"/>
                <p:nvPr/>
              </p:nvSpPr>
              <p:spPr>
                <a:xfrm>
                  <a:off x="1646296" y="1191648"/>
                  <a:ext cx="1976164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rIns="0" rtlCol="0">
                  <a:spAutoFit/>
                </a:bodyPr>
                <a:lstStyle/>
                <a:p>
                  <a:pPr lvl="0" algn="ctr">
                    <a:defRPr/>
                  </a:pPr>
                  <a:r>
                    <a:rPr lang="en-US" sz="1400" i="1" dirty="0">
                      <a:latin typeface="Amazon Ember Display" panose="020F0603020204020204" pitchFamily="34" charset="0"/>
                      <a:ea typeface="Amazon Ember Display" panose="020F0603020204020204" pitchFamily="34" charset="0"/>
                      <a:cs typeface="Amazon Ember Display" panose="020F0603020204020204" pitchFamily="34" charset="0"/>
                    </a:rPr>
                    <a:t>Create Registry record</a:t>
                  </a:r>
                  <a:endParaRPr kumimoji="0" lang="en-US" sz="1400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mazon Ember Display" panose="020F0603020204020204" pitchFamily="34" charset="0"/>
                    <a:ea typeface="Amazon Ember Display" panose="020F0603020204020204" pitchFamily="34" charset="0"/>
                    <a:cs typeface="Amazon Ember Display" panose="020F0603020204020204" pitchFamily="34" charset="0"/>
                  </a:endParaRPr>
                </a:p>
              </p:txBody>
            </p:sp>
          </p:grpSp>
          <p:grpSp>
            <p:nvGrpSpPr>
              <p:cNvPr id="228" name="Group 227">
                <a:extLst>
                  <a:ext uri="{FF2B5EF4-FFF2-40B4-BE49-F238E27FC236}">
                    <a16:creationId xmlns:a16="http://schemas.microsoft.com/office/drawing/2014/main" id="{3B5769B2-693B-3D7C-4AC5-DDA2BA5719A1}"/>
                  </a:ext>
                </a:extLst>
              </p:cNvPr>
              <p:cNvGrpSpPr/>
              <p:nvPr/>
            </p:nvGrpSpPr>
            <p:grpSpPr>
              <a:xfrm>
                <a:off x="1413083" y="1630230"/>
                <a:ext cx="2276325" cy="323463"/>
                <a:chOff x="1346135" y="1184178"/>
                <a:chExt cx="2276325" cy="323463"/>
              </a:xfrm>
            </p:grpSpPr>
            <p:sp>
              <p:nvSpPr>
                <p:cNvPr id="229" name="Oval 228">
                  <a:extLst>
                    <a:ext uri="{FF2B5EF4-FFF2-40B4-BE49-F238E27FC236}">
                      <a16:creationId xmlns:a16="http://schemas.microsoft.com/office/drawing/2014/main" id="{DB8BAC6E-CA47-CC67-DCA8-5224DCD6E3F7}"/>
                    </a:ext>
                  </a:extLst>
                </p:cNvPr>
                <p:cNvSpPr/>
                <p:nvPr/>
              </p:nvSpPr>
              <p:spPr>
                <a:xfrm>
                  <a:off x="1346135" y="1184178"/>
                  <a:ext cx="332980" cy="323463"/>
                </a:xfrm>
                <a:prstGeom prst="ellipse">
                  <a:avLst/>
                </a:prstGeom>
                <a:solidFill>
                  <a:srgbClr val="00B05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sz="1400" kern="0" dirty="0">
                      <a:solidFill>
                        <a:srgbClr val="000000"/>
                      </a:solidFill>
                      <a:latin typeface="Amazon Ember Display"/>
                    </a:rPr>
                    <a:t>3</a:t>
                  </a:r>
                  <a:endPara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mazon Ember Display"/>
                    <a:ea typeface="+mn-ea"/>
                    <a:cs typeface="+mn-cs"/>
                  </a:endParaRPr>
                </a:p>
              </p:txBody>
            </p:sp>
            <p:sp>
              <p:nvSpPr>
                <p:cNvPr id="230" name="TextBox 229">
                  <a:extLst>
                    <a:ext uri="{FF2B5EF4-FFF2-40B4-BE49-F238E27FC236}">
                      <a16:creationId xmlns:a16="http://schemas.microsoft.com/office/drawing/2014/main" id="{D99715D8-61E4-CAC7-D49D-DBBF5F02268B}"/>
                    </a:ext>
                  </a:extLst>
                </p:cNvPr>
                <p:cNvSpPr txBox="1"/>
                <p:nvPr/>
              </p:nvSpPr>
              <p:spPr>
                <a:xfrm>
                  <a:off x="1646296" y="1191648"/>
                  <a:ext cx="1976164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rIns="0" rtlCol="0">
                  <a:spAutoFit/>
                </a:bodyPr>
                <a:lstStyle/>
                <a:p>
                  <a:pPr lvl="0" algn="ctr">
                    <a:defRPr/>
                  </a:pPr>
                  <a:r>
                    <a:rPr lang="en-US" sz="1400" i="1" dirty="0">
                      <a:latin typeface="Amazon Ember Display" panose="020F0603020204020204" pitchFamily="34" charset="0"/>
                      <a:ea typeface="Amazon Ember Display" panose="020F0603020204020204" pitchFamily="34" charset="0"/>
                      <a:cs typeface="Amazon Ember Display" panose="020F0603020204020204" pitchFamily="34" charset="0"/>
                    </a:rPr>
                    <a:t>Submit for Approval</a:t>
                  </a:r>
                  <a:endParaRPr kumimoji="0" lang="en-US" sz="1400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mazon Ember Display" panose="020F0603020204020204" pitchFamily="34" charset="0"/>
                    <a:ea typeface="Amazon Ember Display" panose="020F0603020204020204" pitchFamily="34" charset="0"/>
                    <a:cs typeface="Amazon Ember Display" panose="020F0603020204020204" pitchFamily="34" charset="0"/>
                  </a:endParaRPr>
                </a:p>
              </p:txBody>
            </p:sp>
          </p:grpSp>
          <p:sp>
            <p:nvSpPr>
              <p:cNvPr id="232" name="Rectangle: Rounded Corners 37">
                <a:extLst>
                  <a:ext uri="{FF2B5EF4-FFF2-40B4-BE49-F238E27FC236}">
                    <a16:creationId xmlns:a16="http://schemas.microsoft.com/office/drawing/2014/main" id="{E43E374C-2EBC-09CA-6A4E-BEC71EE9A016}"/>
                  </a:ext>
                </a:extLst>
              </p:cNvPr>
              <p:cNvSpPr/>
              <p:nvPr/>
            </p:nvSpPr>
            <p:spPr>
              <a:xfrm>
                <a:off x="9408469" y="210212"/>
                <a:ext cx="1929384" cy="4424765"/>
              </a:xfrm>
              <a:prstGeom prst="roundRect">
                <a:avLst>
                  <a:gd name="adj" fmla="val 9605"/>
                </a:avLst>
              </a:prstGeom>
              <a:gradFill flip="none" rotWithShape="1">
                <a:gsLst>
                  <a:gs pos="3000">
                    <a:srgbClr val="41B3FF"/>
                  </a:gs>
                  <a:gs pos="80000">
                    <a:srgbClr val="AD5CFF"/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19050" cap="flat" cmpd="sng" algn="ctr">
                <a:noFill/>
                <a:prstDash val="solid"/>
                <a:miter lim="800000"/>
              </a:ln>
              <a:effectLst>
                <a:outerShdw blurRad="228600" dist="38100" dir="2700000" algn="tl" rotWithShape="0">
                  <a:prstClr val="black">
                    <a:alpha val="25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mazonEmberDisplay_Rg.ttf" panose="02110004020202020204"/>
                  <a:ea typeface="+mn-ea"/>
                  <a:cs typeface="+mn-cs"/>
                </a:endParaRPr>
              </a:p>
            </p:txBody>
          </p:sp>
          <p:pic>
            <p:nvPicPr>
              <p:cNvPr id="233" name="Picture 232">
                <a:extLst>
                  <a:ext uri="{FF2B5EF4-FFF2-40B4-BE49-F238E27FC236}">
                    <a16:creationId xmlns:a16="http://schemas.microsoft.com/office/drawing/2014/main" id="{0F997B33-5C6D-6702-2AF5-15CC1DA207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870675" y="1581130"/>
                <a:ext cx="987105" cy="1005840"/>
              </a:xfrm>
              <a:prstGeom prst="rect">
                <a:avLst/>
              </a:prstGeom>
            </p:spPr>
          </p:pic>
          <p:sp>
            <p:nvSpPr>
              <p:cNvPr id="234" name="TextBox 233">
                <a:extLst>
                  <a:ext uri="{FF2B5EF4-FFF2-40B4-BE49-F238E27FC236}">
                    <a16:creationId xmlns:a16="http://schemas.microsoft.com/office/drawing/2014/main" id="{C911DC83-0A38-B560-211B-8EF84C2475F3}"/>
                  </a:ext>
                </a:extLst>
              </p:cNvPr>
              <p:cNvSpPr txBox="1"/>
              <p:nvPr/>
            </p:nvSpPr>
            <p:spPr>
              <a:xfrm>
                <a:off x="9452085" y="2661718"/>
                <a:ext cx="1828800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rIns="0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mazon Ember Display" panose="020F0603020204020204" pitchFamily="34" charset="0"/>
                    <a:ea typeface="Amazon Ember Display" panose="020F0603020204020204" pitchFamily="34" charset="0"/>
                    <a:cs typeface="Amazon Ember Display" panose="020F0603020204020204" pitchFamily="34" charset="0"/>
                  </a:rPr>
                  <a:t>AWS Agent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mazon Ember Display" panose="020F0603020204020204" pitchFamily="34" charset="0"/>
                    <a:ea typeface="Amazon Ember Display" panose="020F0603020204020204" pitchFamily="34" charset="0"/>
                    <a:cs typeface="Amazon Ember Display" panose="020F0603020204020204" pitchFamily="34" charset="0"/>
                  </a:rPr>
                  <a:t>Registry</a:t>
                </a:r>
              </a:p>
            </p:txBody>
          </p:sp>
          <p:grpSp>
            <p:nvGrpSpPr>
              <p:cNvPr id="235" name="Group 234">
                <a:extLst>
                  <a:ext uri="{FF2B5EF4-FFF2-40B4-BE49-F238E27FC236}">
                    <a16:creationId xmlns:a16="http://schemas.microsoft.com/office/drawing/2014/main" id="{FA899C17-C8F8-6F41-7552-04A209F187EF}"/>
                  </a:ext>
                </a:extLst>
              </p:cNvPr>
              <p:cNvGrpSpPr/>
              <p:nvPr/>
            </p:nvGrpSpPr>
            <p:grpSpPr>
              <a:xfrm>
                <a:off x="9720256" y="5981201"/>
                <a:ext cx="1202054" cy="782921"/>
                <a:chOff x="328531" y="1103425"/>
                <a:chExt cx="1202054" cy="782921"/>
              </a:xfrm>
            </p:grpSpPr>
            <p:pic>
              <p:nvPicPr>
                <p:cNvPr id="236" name="Graphic 235" descr="Office worker male outline">
                  <a:extLst>
                    <a:ext uri="{FF2B5EF4-FFF2-40B4-BE49-F238E27FC236}">
                      <a16:creationId xmlns:a16="http://schemas.microsoft.com/office/drawing/2014/main" id="{2410EDE6-D02A-5400-DBCF-718EF5ACB1E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52398" y="1103425"/>
                  <a:ext cx="554321" cy="554321"/>
                </a:xfrm>
                <a:prstGeom prst="rect">
                  <a:avLst/>
                </a:prstGeom>
              </p:spPr>
            </p:pic>
            <p:sp>
              <p:nvSpPr>
                <p:cNvPr id="237" name="TextBox 236">
                  <a:extLst>
                    <a:ext uri="{FF2B5EF4-FFF2-40B4-BE49-F238E27FC236}">
                      <a16:creationId xmlns:a16="http://schemas.microsoft.com/office/drawing/2014/main" id="{1489BFDF-C5F6-0D2A-05D6-0C6669C518EC}"/>
                    </a:ext>
                  </a:extLst>
                </p:cNvPr>
                <p:cNvSpPr txBox="1"/>
                <p:nvPr/>
              </p:nvSpPr>
              <p:spPr>
                <a:xfrm>
                  <a:off x="328531" y="1657746"/>
                  <a:ext cx="1202054" cy="228600"/>
                </a:xfrm>
                <a:prstGeom prst="rect">
                  <a:avLst/>
                </a:prstGeom>
              </p:spPr>
              <p:txBody>
                <a:bodyPr vert="horz" wrap="none" lIns="91440" tIns="45720" rIns="91440" bIns="45720" rtlCol="0" anchor="ctr">
                  <a:noAutofit/>
                </a:bodyPr>
                <a:lstStyle/>
                <a:p>
                  <a:pPr marL="0" marR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4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Amazon Ember Display" panose="020F0603020204020204" pitchFamily="34" charset="0"/>
                      <a:ea typeface="Amazon Ember Display" panose="020F0603020204020204" pitchFamily="34" charset="0"/>
                      <a:cs typeface="Amazon Ember Display" panose="020F0603020204020204" pitchFamily="34" charset="0"/>
                    </a:rPr>
                    <a:t>Admin</a:t>
                  </a:r>
                </a:p>
              </p:txBody>
            </p:sp>
          </p:grpSp>
          <p:cxnSp>
            <p:nvCxnSpPr>
              <p:cNvPr id="238" name="Straight Arrow Connector 237">
                <a:extLst>
                  <a:ext uri="{FF2B5EF4-FFF2-40B4-BE49-F238E27FC236}">
                    <a16:creationId xmlns:a16="http://schemas.microsoft.com/office/drawing/2014/main" id="{E43A1DA6-A1E2-1D97-7C16-744757F223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16502" y="4666137"/>
                <a:ext cx="0" cy="1463040"/>
              </a:xfrm>
              <a:prstGeom prst="straightConnector1">
                <a:avLst/>
              </a:prstGeom>
              <a:ln>
                <a:headEnd type="triangl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9" name="TextBox 238">
                <a:extLst>
                  <a:ext uri="{FF2B5EF4-FFF2-40B4-BE49-F238E27FC236}">
                    <a16:creationId xmlns:a16="http://schemas.microsoft.com/office/drawing/2014/main" id="{E8812E19-835D-F3EA-6CB0-FE893CDEE842}"/>
                  </a:ext>
                </a:extLst>
              </p:cNvPr>
              <p:cNvSpPr txBox="1"/>
              <p:nvPr/>
            </p:nvSpPr>
            <p:spPr>
              <a:xfrm rot="16200000">
                <a:off x="9049566" y="5355612"/>
                <a:ext cx="1371600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rIns="0" rtlCol="0">
                <a:spAutoFit/>
              </a:bodyPr>
              <a:lstStyle/>
              <a:p>
                <a:pPr lvl="0" algn="ctr">
                  <a:defRPr/>
                </a:pPr>
                <a:r>
                  <a:rPr lang="en-US" sz="1400" i="1" dirty="0">
                    <a:latin typeface="Amazon Ember Display" panose="020F0603020204020204" pitchFamily="34" charset="0"/>
                    <a:ea typeface="Amazon Ember Display" panose="020F0603020204020204" pitchFamily="34" charset="0"/>
                    <a:cs typeface="Amazon Ember Display" panose="020F0603020204020204" pitchFamily="34" charset="0"/>
                  </a:rPr>
                  <a:t>Create Registry</a:t>
                </a:r>
                <a:endParaRPr kumimoji="0" lang="en-US" sz="1400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mazon Ember Display" panose="020F0603020204020204" pitchFamily="34" charset="0"/>
                  <a:ea typeface="Amazon Ember Display" panose="020F0603020204020204" pitchFamily="34" charset="0"/>
                  <a:cs typeface="Amazon Ember Display" panose="020F0603020204020204" pitchFamily="34" charset="0"/>
                </a:endParaRPr>
              </a:p>
            </p:txBody>
          </p:sp>
          <p:cxnSp>
            <p:nvCxnSpPr>
              <p:cNvPr id="240" name="Straight Arrow Connector 239">
                <a:extLst>
                  <a:ext uri="{FF2B5EF4-FFF2-40B4-BE49-F238E27FC236}">
                    <a16:creationId xmlns:a16="http://schemas.microsoft.com/office/drawing/2014/main" id="{1BE39947-9B33-E933-B440-9CBFAD0656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31637" y="4675140"/>
                <a:ext cx="0" cy="1463040"/>
              </a:xfrm>
              <a:prstGeom prst="straightConnector1">
                <a:avLst/>
              </a:prstGeom>
              <a:ln>
                <a:headEnd type="triangl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1" name="TextBox 240">
                <a:extLst>
                  <a:ext uri="{FF2B5EF4-FFF2-40B4-BE49-F238E27FC236}">
                    <a16:creationId xmlns:a16="http://schemas.microsoft.com/office/drawing/2014/main" id="{479A05C9-5C2C-D41E-4D59-479899C9F071}"/>
                  </a:ext>
                </a:extLst>
              </p:cNvPr>
              <p:cNvSpPr txBox="1"/>
              <p:nvPr/>
            </p:nvSpPr>
            <p:spPr>
              <a:xfrm rot="16200000">
                <a:off x="10214479" y="5369691"/>
                <a:ext cx="1371600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rIns="0" rtlCol="0">
                <a:spAutoFit/>
              </a:bodyPr>
              <a:lstStyle/>
              <a:p>
                <a:pPr lvl="0" algn="ctr">
                  <a:defRPr/>
                </a:pPr>
                <a:r>
                  <a:rPr lang="en-US" sz="1400" i="1" dirty="0">
                    <a:latin typeface="Amazon Ember Display" panose="020F0603020204020204" pitchFamily="34" charset="0"/>
                    <a:ea typeface="Amazon Ember Display" panose="020F0603020204020204" pitchFamily="34" charset="0"/>
                    <a:cs typeface="Amazon Ember Display" panose="020F0603020204020204" pitchFamily="34" charset="0"/>
                  </a:rPr>
                  <a:t>Approve/ Reject</a:t>
                </a:r>
                <a:endParaRPr kumimoji="0" lang="en-US" sz="1400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mazon Ember Display" panose="020F0603020204020204" pitchFamily="34" charset="0"/>
                  <a:ea typeface="Amazon Ember Display" panose="020F0603020204020204" pitchFamily="34" charset="0"/>
                  <a:cs typeface="Amazon Ember Display" panose="020F0603020204020204" pitchFamily="34" charset="0"/>
                </a:endParaRPr>
              </a:p>
            </p:txBody>
          </p:sp>
          <p:sp>
            <p:nvSpPr>
              <p:cNvPr id="242" name="Oval 241">
                <a:extLst>
                  <a:ext uri="{FF2B5EF4-FFF2-40B4-BE49-F238E27FC236}">
                    <a16:creationId xmlns:a16="http://schemas.microsoft.com/office/drawing/2014/main" id="{42466C17-9E99-E1C9-BDAD-3FABFA900880}"/>
                  </a:ext>
                </a:extLst>
              </p:cNvPr>
              <p:cNvSpPr/>
              <p:nvPr/>
            </p:nvSpPr>
            <p:spPr>
              <a:xfrm>
                <a:off x="9240796" y="5298509"/>
                <a:ext cx="332980" cy="323463"/>
              </a:xfrm>
              <a:prstGeom prst="ellipse">
                <a:avLst/>
              </a:prstGeom>
              <a:solidFill>
                <a:srgbClr val="00B05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mazon Ember Display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243" name="Oval 242">
                <a:extLst>
                  <a:ext uri="{FF2B5EF4-FFF2-40B4-BE49-F238E27FC236}">
                    <a16:creationId xmlns:a16="http://schemas.microsoft.com/office/drawing/2014/main" id="{D2C1035D-D6FA-0A8A-E452-AEFAA2A027DC}"/>
                  </a:ext>
                </a:extLst>
              </p:cNvPr>
              <p:cNvSpPr/>
              <p:nvPr/>
            </p:nvSpPr>
            <p:spPr>
              <a:xfrm>
                <a:off x="11066770" y="5271638"/>
                <a:ext cx="332980" cy="323463"/>
              </a:xfrm>
              <a:prstGeom prst="ellipse">
                <a:avLst/>
              </a:prstGeom>
              <a:solidFill>
                <a:srgbClr val="00B05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400" kern="0" dirty="0">
                    <a:solidFill>
                      <a:srgbClr val="000000"/>
                    </a:solidFill>
                    <a:latin typeface="Amazon Ember Display"/>
                  </a:rPr>
                  <a:t>4</a:t>
                </a: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 Display"/>
                  <a:ea typeface="+mn-ea"/>
                  <a:cs typeface="+mn-cs"/>
                </a:endParaRPr>
              </a:p>
            </p:txBody>
          </p:sp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0F0E98E0-7C9B-ABED-03A9-38C5C2C4FFCC}"/>
                  </a:ext>
                </a:extLst>
              </p:cNvPr>
              <p:cNvGrpSpPr/>
              <p:nvPr/>
            </p:nvGrpSpPr>
            <p:grpSpPr>
              <a:xfrm>
                <a:off x="3764943" y="958492"/>
                <a:ext cx="1243546" cy="1317625"/>
                <a:chOff x="4041858" y="1178140"/>
                <a:chExt cx="1480800" cy="1317625"/>
              </a:xfrm>
            </p:grpSpPr>
            <p:sp>
              <p:nvSpPr>
                <p:cNvPr id="214" name="Rectangle: Rounded Corners 37">
                  <a:extLst>
                    <a:ext uri="{FF2B5EF4-FFF2-40B4-BE49-F238E27FC236}">
                      <a16:creationId xmlns:a16="http://schemas.microsoft.com/office/drawing/2014/main" id="{42F999EC-7A5A-4087-36DB-8A8A77F8782B}"/>
                    </a:ext>
                  </a:extLst>
                </p:cNvPr>
                <p:cNvSpPr/>
                <p:nvPr/>
              </p:nvSpPr>
              <p:spPr>
                <a:xfrm>
                  <a:off x="4041858" y="1178140"/>
                  <a:ext cx="1480800" cy="1317625"/>
                </a:xfrm>
                <a:prstGeom prst="roundRect">
                  <a:avLst>
                    <a:gd name="adj" fmla="val 9605"/>
                  </a:avLst>
                </a:prstGeom>
                <a:gradFill flip="none" rotWithShape="1">
                  <a:gsLst>
                    <a:gs pos="3000">
                      <a:srgbClr val="41B3FF"/>
                    </a:gs>
                    <a:gs pos="80000">
                      <a:srgbClr val="AD5CFF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n w="19050" cap="flat" cmpd="sng" algn="ctr">
                  <a:noFill/>
                  <a:prstDash val="solid"/>
                  <a:miter lim="800000"/>
                </a:ln>
                <a:effectLst>
                  <a:outerShdw blurRad="228600" dist="38100" dir="2700000" algn="tl" rotWithShape="0">
                    <a:prstClr val="black">
                      <a:alpha val="25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AmazonEmberDisplay_Rg.ttf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215" name="TextBox 214">
                  <a:extLst>
                    <a:ext uri="{FF2B5EF4-FFF2-40B4-BE49-F238E27FC236}">
                      <a16:creationId xmlns:a16="http://schemas.microsoft.com/office/drawing/2014/main" id="{B980E8CE-F17A-D199-851E-0D41B5D9EA99}"/>
                    </a:ext>
                  </a:extLst>
                </p:cNvPr>
                <p:cNvSpPr txBox="1"/>
                <p:nvPr/>
              </p:nvSpPr>
              <p:spPr>
                <a:xfrm>
                  <a:off x="4181231" y="1735924"/>
                  <a:ext cx="1202054" cy="194048"/>
                </a:xfrm>
                <a:prstGeom prst="rect">
                  <a:avLst/>
                </a:prstGeom>
              </p:spPr>
              <p:txBody>
                <a:bodyPr vert="horz" wrap="none" lIns="91440" tIns="45720" rIns="91440" bIns="45720" rtlCol="0" anchor="ctr">
                  <a:noAutofit/>
                </a:bodyPr>
                <a:lstStyle/>
                <a:p>
                  <a:pPr marL="0" marR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4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Amazon Ember Display" panose="020F0603020204020204" pitchFamily="34" charset="0"/>
                      <a:ea typeface="Amazon Ember Display" panose="020F0603020204020204" pitchFamily="34" charset="0"/>
                      <a:cs typeface="Amazon Ember Display" panose="020F0603020204020204" pitchFamily="34" charset="0"/>
                    </a:rPr>
                    <a:t>Agent Skills</a:t>
                  </a:r>
                </a:p>
              </p:txBody>
            </p:sp>
          </p:grpSp>
          <p:sp>
            <p:nvSpPr>
              <p:cNvPr id="221" name="Rounded Rectangle 80">
                <a:extLst>
                  <a:ext uri="{FF2B5EF4-FFF2-40B4-BE49-F238E27FC236}">
                    <a16:creationId xmlns:a16="http://schemas.microsoft.com/office/drawing/2014/main" id="{71E0AC2C-D9C6-5AFC-F166-A01BBD8E4DEA}"/>
                  </a:ext>
                </a:extLst>
              </p:cNvPr>
              <p:cNvSpPr/>
              <p:nvPr/>
            </p:nvSpPr>
            <p:spPr>
              <a:xfrm>
                <a:off x="5144563" y="1036913"/>
                <a:ext cx="1695243" cy="1201574"/>
              </a:xfrm>
              <a:prstGeom prst="roundRect">
                <a:avLst>
                  <a:gd name="adj" fmla="val 16728"/>
                </a:avLst>
              </a:prstGeom>
              <a:solidFill>
                <a:srgbClr val="FFFFFF">
                  <a:lumMod val="75000"/>
                </a:srgbClr>
              </a:solidFill>
              <a:ln w="19050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mazon Ember Display"/>
                    <a:ea typeface="+mn-ea"/>
                    <a:cs typeface="+mn-cs"/>
                  </a:rPr>
                  <a:t>{ ”name”: “Skills”,</a:t>
                </a: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mazon Ember Display"/>
                    <a:ea typeface="+mn-ea"/>
                    <a:cs typeface="+mn-cs"/>
                  </a:rPr>
                  <a:t>  “descriptorType”: “AGENT_SKILLS”,</a:t>
                </a: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mazon Ember Display"/>
                    <a:ea typeface="+mn-ea"/>
                    <a:cs typeface="+mn-cs"/>
                  </a:rPr>
                  <a:t>  …</a:t>
                </a: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mazon Ember Display"/>
                    <a:ea typeface="+mn-ea"/>
                    <a:cs typeface="+mn-cs"/>
                  </a:rPr>
                  <a:t>“recordVersion”: “1.0” }</a:t>
                </a:r>
              </a:p>
            </p:txBody>
          </p:sp>
          <p:grpSp>
            <p:nvGrpSpPr>
              <p:cNvPr id="258" name="Group 257">
                <a:extLst>
                  <a:ext uri="{FF2B5EF4-FFF2-40B4-BE49-F238E27FC236}">
                    <a16:creationId xmlns:a16="http://schemas.microsoft.com/office/drawing/2014/main" id="{F232AD02-D504-30B1-0253-F423EFE3E7DC}"/>
                  </a:ext>
                </a:extLst>
              </p:cNvPr>
              <p:cNvGrpSpPr/>
              <p:nvPr/>
            </p:nvGrpSpPr>
            <p:grpSpPr>
              <a:xfrm>
                <a:off x="1635119" y="2881574"/>
                <a:ext cx="1240282" cy="1450449"/>
                <a:chOff x="2879145" y="4991487"/>
                <a:chExt cx="1240282" cy="1450449"/>
              </a:xfrm>
            </p:grpSpPr>
            <p:pic>
              <p:nvPicPr>
                <p:cNvPr id="259" name="Picture 258">
                  <a:extLst>
                    <a:ext uri="{FF2B5EF4-FFF2-40B4-BE49-F238E27FC236}">
                      <a16:creationId xmlns:a16="http://schemas.microsoft.com/office/drawing/2014/main" id="{E26531E1-FBD3-A473-40E8-5A31DEFAD0F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879145" y="5441920"/>
                  <a:ext cx="1211747" cy="505875"/>
                </a:xfrm>
                <a:prstGeom prst="rect">
                  <a:avLst/>
                </a:prstGeom>
                <a:effectLst>
                  <a:outerShdw blurRad="50800" dist="50800" dir="5400000" algn="ctr" rotWithShape="0">
                    <a:schemeClr val="tx1"/>
                  </a:outerShdw>
                </a:effectLst>
              </p:spPr>
            </p:pic>
            <p:sp>
              <p:nvSpPr>
                <p:cNvPr id="260" name="Rounded Rectangle 80">
                  <a:extLst>
                    <a:ext uri="{FF2B5EF4-FFF2-40B4-BE49-F238E27FC236}">
                      <a16:creationId xmlns:a16="http://schemas.microsoft.com/office/drawing/2014/main" id="{CEF6F050-A6BD-A12A-C504-279FEA007915}"/>
                    </a:ext>
                  </a:extLst>
                </p:cNvPr>
                <p:cNvSpPr/>
                <p:nvPr/>
              </p:nvSpPr>
              <p:spPr>
                <a:xfrm>
                  <a:off x="2917373" y="6100345"/>
                  <a:ext cx="1202054" cy="341591"/>
                </a:xfrm>
                <a:prstGeom prst="roundRect">
                  <a:avLst>
                    <a:gd name="adj" fmla="val 16728"/>
                  </a:avLst>
                </a:prstGeom>
                <a:solidFill>
                  <a:schemeClr val="bg1"/>
                </a:solidFill>
                <a:ln w="19050" cap="flat" cmpd="sng" algn="ctr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lIns="0" tIns="0" rIns="0" bIns="0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mazon Ember Display"/>
                      <a:ea typeface="+mn-ea"/>
                      <a:cs typeface="+mn-cs"/>
                    </a:rPr>
                    <a:t>SDK</a:t>
                  </a:r>
                </a:p>
              </p:txBody>
            </p:sp>
            <p:sp>
              <p:nvSpPr>
                <p:cNvPr id="261" name="Rounded Rectangle 80">
                  <a:extLst>
                    <a:ext uri="{FF2B5EF4-FFF2-40B4-BE49-F238E27FC236}">
                      <a16:creationId xmlns:a16="http://schemas.microsoft.com/office/drawing/2014/main" id="{427EFB28-49B3-1C82-2861-E90161604693}"/>
                    </a:ext>
                  </a:extLst>
                </p:cNvPr>
                <p:cNvSpPr/>
                <p:nvPr/>
              </p:nvSpPr>
              <p:spPr>
                <a:xfrm>
                  <a:off x="2888838" y="4991487"/>
                  <a:ext cx="1202054" cy="341591"/>
                </a:xfrm>
                <a:prstGeom prst="roundRect">
                  <a:avLst>
                    <a:gd name="adj" fmla="val 16728"/>
                  </a:avLst>
                </a:prstGeom>
                <a:solidFill>
                  <a:schemeClr val="bg1"/>
                </a:solidFill>
                <a:ln w="19050" cap="flat" cmpd="sng" algn="ctr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lIns="0" tIns="0" rIns="0" bIns="0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mazon Ember Display"/>
                      <a:ea typeface="+mn-ea"/>
                      <a:cs typeface="+mn-cs"/>
                    </a:rPr>
                    <a:t>AWS Console</a:t>
                  </a:r>
                </a:p>
              </p:txBody>
            </p:sp>
          </p:grpSp>
          <p:cxnSp>
            <p:nvCxnSpPr>
              <p:cNvPr id="265" name="Straight Arrow Connector 264">
                <a:extLst>
                  <a:ext uri="{FF2B5EF4-FFF2-40B4-BE49-F238E27FC236}">
                    <a16:creationId xmlns:a16="http://schemas.microsoft.com/office/drawing/2014/main" id="{132A58F5-D9DB-BBC2-82F8-F513A00FCA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0920" y="3615485"/>
                <a:ext cx="731520" cy="0"/>
              </a:xfrm>
              <a:prstGeom prst="straightConnector1">
                <a:avLst/>
              </a:prstGeom>
              <a:ln>
                <a:headEnd type="none"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6" name="Straight Arrow Connector 265">
                <a:extLst>
                  <a:ext uri="{FF2B5EF4-FFF2-40B4-BE49-F238E27FC236}">
                    <a16:creationId xmlns:a16="http://schemas.microsoft.com/office/drawing/2014/main" id="{8FD73E34-96B7-EE33-63C7-A6F7F4C4D1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75401" y="3108689"/>
                <a:ext cx="6537960" cy="0"/>
              </a:xfrm>
              <a:prstGeom prst="straightConnector1">
                <a:avLst/>
              </a:prstGeom>
              <a:ln>
                <a:headEnd type="none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7" name="TextBox 266">
                <a:extLst>
                  <a:ext uri="{FF2B5EF4-FFF2-40B4-BE49-F238E27FC236}">
                    <a16:creationId xmlns:a16="http://schemas.microsoft.com/office/drawing/2014/main" id="{0F64C171-BF73-807D-BC55-515C925BE519}"/>
                  </a:ext>
                </a:extLst>
              </p:cNvPr>
              <p:cNvSpPr txBox="1"/>
              <p:nvPr/>
            </p:nvSpPr>
            <p:spPr>
              <a:xfrm>
                <a:off x="4501649" y="2727821"/>
                <a:ext cx="1976164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rIns="0" rtlCol="0">
                <a:spAutoFit/>
              </a:bodyPr>
              <a:lstStyle/>
              <a:p>
                <a:pPr lvl="0" algn="ctr">
                  <a:defRPr/>
                </a:pPr>
                <a:r>
                  <a:rPr lang="en-US" sz="1400" i="1" dirty="0">
                    <a:latin typeface="Amazon Ember Display" panose="020F0603020204020204" pitchFamily="34" charset="0"/>
                    <a:ea typeface="Amazon Ember Display" panose="020F0603020204020204" pitchFamily="34" charset="0"/>
                    <a:cs typeface="Amazon Ember Display" panose="020F0603020204020204" pitchFamily="34" charset="0"/>
                  </a:rPr>
                  <a:t>Search Registry for skill</a:t>
                </a:r>
                <a:endParaRPr kumimoji="0" lang="en-US" sz="1400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mazon Ember Display" panose="020F0603020204020204" pitchFamily="34" charset="0"/>
                  <a:ea typeface="Amazon Ember Display" panose="020F0603020204020204" pitchFamily="34" charset="0"/>
                  <a:cs typeface="Amazon Ember Display" panose="020F0603020204020204" pitchFamily="34" charset="0"/>
                </a:endParaRPr>
              </a:p>
            </p:txBody>
          </p:sp>
          <p:cxnSp>
            <p:nvCxnSpPr>
              <p:cNvPr id="268" name="Straight Arrow Connector 267">
                <a:extLst>
                  <a:ext uri="{FF2B5EF4-FFF2-40B4-BE49-F238E27FC236}">
                    <a16:creationId xmlns:a16="http://schemas.microsoft.com/office/drawing/2014/main" id="{798808D2-D0CD-4778-D2B6-7AE0BB9E3C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52571" y="3329222"/>
                <a:ext cx="6537960" cy="0"/>
              </a:xfrm>
              <a:prstGeom prst="straightConnector1">
                <a:avLst/>
              </a:prstGeom>
              <a:ln>
                <a:headEnd type="triangle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9" name="TextBox 268">
                <a:extLst>
                  <a:ext uri="{FF2B5EF4-FFF2-40B4-BE49-F238E27FC236}">
                    <a16:creationId xmlns:a16="http://schemas.microsoft.com/office/drawing/2014/main" id="{930EA934-F519-272E-DC1E-780C6E10B25F}"/>
                  </a:ext>
                </a:extLst>
              </p:cNvPr>
              <p:cNvSpPr txBox="1"/>
              <p:nvPr/>
            </p:nvSpPr>
            <p:spPr>
              <a:xfrm>
                <a:off x="4317937" y="3427525"/>
                <a:ext cx="4206240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rIns="0" rtlCol="0">
                <a:spAutoFit/>
              </a:bodyPr>
              <a:lstStyle/>
              <a:p>
                <a:pPr lvl="0" algn="ctr">
                  <a:defRPr/>
                </a:pPr>
                <a:r>
                  <a:rPr lang="en-US" sz="1400" i="1" dirty="0">
                    <a:latin typeface="Amazon Ember Display" panose="020F0603020204020204" pitchFamily="34" charset="0"/>
                    <a:ea typeface="Amazon Ember Display" panose="020F0603020204020204" pitchFamily="34" charset="0"/>
                    <a:cs typeface="Amazon Ember Display" panose="020F0603020204020204" pitchFamily="34" charset="0"/>
                  </a:rPr>
                  <a:t>Skill md, skill definition (repositories, packages)</a:t>
                </a:r>
              </a:p>
            </p:txBody>
          </p:sp>
          <p:sp>
            <p:nvSpPr>
              <p:cNvPr id="270" name="Oval 269">
                <a:extLst>
                  <a:ext uri="{FF2B5EF4-FFF2-40B4-BE49-F238E27FC236}">
                    <a16:creationId xmlns:a16="http://schemas.microsoft.com/office/drawing/2014/main" id="{2D9D00A7-55B1-7A5E-ABDD-9099A0366C09}"/>
                  </a:ext>
                </a:extLst>
              </p:cNvPr>
              <p:cNvSpPr/>
              <p:nvPr/>
            </p:nvSpPr>
            <p:spPr>
              <a:xfrm>
                <a:off x="4129945" y="2726620"/>
                <a:ext cx="332980" cy="323463"/>
              </a:xfrm>
              <a:prstGeom prst="ellipse">
                <a:avLst/>
              </a:prstGeom>
              <a:solidFill>
                <a:srgbClr val="00B05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mazon Ember Display"/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271" name="Oval 270">
                <a:extLst>
                  <a:ext uri="{FF2B5EF4-FFF2-40B4-BE49-F238E27FC236}">
                    <a16:creationId xmlns:a16="http://schemas.microsoft.com/office/drawing/2014/main" id="{2EF59853-F440-6B09-D29A-A5E1BBA76E5B}"/>
                  </a:ext>
                </a:extLst>
              </p:cNvPr>
              <p:cNvSpPr/>
              <p:nvPr/>
            </p:nvSpPr>
            <p:spPr>
              <a:xfrm>
                <a:off x="4117622" y="3402314"/>
                <a:ext cx="332980" cy="323463"/>
              </a:xfrm>
              <a:prstGeom prst="ellipse">
                <a:avLst/>
              </a:prstGeom>
              <a:solidFill>
                <a:srgbClr val="00B05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mazon Ember Display"/>
                    <a:ea typeface="+mn-ea"/>
                    <a:cs typeface="+mn-cs"/>
                  </a:rPr>
                  <a:t>6</a:t>
                </a:r>
              </a:p>
            </p:txBody>
          </p:sp>
          <p:sp>
            <p:nvSpPr>
              <p:cNvPr id="4" name="Rounded Rectangle 80">
                <a:extLst>
                  <a:ext uri="{FF2B5EF4-FFF2-40B4-BE49-F238E27FC236}">
                    <a16:creationId xmlns:a16="http://schemas.microsoft.com/office/drawing/2014/main" id="{FF2C2703-7109-3814-2470-29063BB37DD5}"/>
                  </a:ext>
                </a:extLst>
              </p:cNvPr>
              <p:cNvSpPr/>
              <p:nvPr/>
            </p:nvSpPr>
            <p:spPr>
              <a:xfrm>
                <a:off x="7187686" y="1073667"/>
                <a:ext cx="1463040" cy="379186"/>
              </a:xfrm>
              <a:prstGeom prst="roundRect">
                <a:avLst>
                  <a:gd name="adj" fmla="val 16728"/>
                </a:avLst>
              </a:prstGeom>
              <a:solidFill>
                <a:srgbClr val="FFFFFF">
                  <a:lumMod val="75000"/>
                </a:srgbClr>
              </a:solidFill>
              <a:ln w="19050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mazon Ember Display"/>
                    <a:ea typeface="+mn-ea"/>
                    <a:cs typeface="+mn-cs"/>
                  </a:rPr>
                  <a:t>{”skillMd”: {”inlineContent”:}}</a:t>
                </a:r>
              </a:p>
            </p:txBody>
          </p:sp>
          <p:sp>
            <p:nvSpPr>
              <p:cNvPr id="5" name="Rounded Rectangle 80">
                <a:extLst>
                  <a:ext uri="{FF2B5EF4-FFF2-40B4-BE49-F238E27FC236}">
                    <a16:creationId xmlns:a16="http://schemas.microsoft.com/office/drawing/2014/main" id="{4EEB4A61-028F-C9F5-0B7F-F51BA0960F24}"/>
                  </a:ext>
                </a:extLst>
              </p:cNvPr>
              <p:cNvSpPr/>
              <p:nvPr/>
            </p:nvSpPr>
            <p:spPr>
              <a:xfrm>
                <a:off x="7199154" y="1520883"/>
                <a:ext cx="1463040" cy="774751"/>
              </a:xfrm>
              <a:prstGeom prst="roundRect">
                <a:avLst>
                  <a:gd name="adj" fmla="val 16728"/>
                </a:avLst>
              </a:prstGeom>
              <a:solidFill>
                <a:srgbClr val="FFFFFF">
                  <a:lumMod val="75000"/>
                </a:srgbClr>
              </a:solidFill>
              <a:ln w="19050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mazon Ember Display"/>
                    <a:ea typeface="+mn-ea"/>
                    <a:cs typeface="+mn-cs"/>
                  </a:rPr>
                  <a:t>{ ”skillDefinition”: {</a:t>
                </a: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mazon Ember Display"/>
                    <a:ea typeface="+mn-ea"/>
                    <a:cs typeface="+mn-cs"/>
                  </a:rPr>
                  <a:t>”repository”: {…},</a:t>
                </a: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mazon Ember Display"/>
                    <a:ea typeface="+mn-ea"/>
                    <a:cs typeface="+mn-cs"/>
                  </a:rPr>
                  <a:t>“packages”: {…}</a:t>
                </a:r>
              </a:p>
            </p:txBody>
          </p:sp>
          <p:cxnSp>
            <p:nvCxnSpPr>
              <p:cNvPr id="14" name="Connector: Elbow 13">
                <a:extLst>
                  <a:ext uri="{FF2B5EF4-FFF2-40B4-BE49-F238E27FC236}">
                    <a16:creationId xmlns:a16="http://schemas.microsoft.com/office/drawing/2014/main" id="{6E3C5F93-9301-D6CA-2DF8-0046C6713C11}"/>
                  </a:ext>
                </a:extLst>
              </p:cNvPr>
              <p:cNvCxnSpPr>
                <a:cxnSpLocks/>
                <a:stCxn id="221" idx="3"/>
                <a:endCxn id="4" idx="1"/>
              </p:cNvCxnSpPr>
              <p:nvPr/>
            </p:nvCxnSpPr>
            <p:spPr>
              <a:xfrm flipV="1">
                <a:off x="6839806" y="1263260"/>
                <a:ext cx="347880" cy="374440"/>
              </a:xfrm>
              <a:prstGeom prst="bentConnector3">
                <a:avLst/>
              </a:prstGeom>
              <a:ln>
                <a:prstDash val="dash"/>
                <a:headEnd type="none"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Connector: Elbow 15">
                <a:extLst>
                  <a:ext uri="{FF2B5EF4-FFF2-40B4-BE49-F238E27FC236}">
                    <a16:creationId xmlns:a16="http://schemas.microsoft.com/office/drawing/2014/main" id="{D62D9591-1257-4A31-BE95-7A038E16A38A}"/>
                  </a:ext>
                </a:extLst>
              </p:cNvPr>
              <p:cNvCxnSpPr>
                <a:cxnSpLocks/>
                <a:stCxn id="221" idx="3"/>
                <a:endCxn id="5" idx="1"/>
              </p:cNvCxnSpPr>
              <p:nvPr/>
            </p:nvCxnSpPr>
            <p:spPr>
              <a:xfrm>
                <a:off x="6839806" y="1637700"/>
                <a:ext cx="359348" cy="270559"/>
              </a:xfrm>
              <a:prstGeom prst="bentConnector3">
                <a:avLst/>
              </a:prstGeom>
              <a:ln>
                <a:prstDash val="dash"/>
                <a:headEnd type="none"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E73D8E2D-58F6-8B59-ED60-9E0DFB4085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63933" y="1644707"/>
                <a:ext cx="731520" cy="0"/>
              </a:xfrm>
              <a:prstGeom prst="straightConnector1">
                <a:avLst/>
              </a:prstGeom>
              <a:ln>
                <a:headEnd type="none"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Rectangle: Rounded Corners 37">
                <a:extLst>
                  <a:ext uri="{FF2B5EF4-FFF2-40B4-BE49-F238E27FC236}">
                    <a16:creationId xmlns:a16="http://schemas.microsoft.com/office/drawing/2014/main" id="{18606C82-AD6E-F092-2E29-AE948C621869}"/>
                  </a:ext>
                </a:extLst>
              </p:cNvPr>
              <p:cNvSpPr/>
              <p:nvPr/>
            </p:nvSpPr>
            <p:spPr>
              <a:xfrm>
                <a:off x="6981871" y="4976277"/>
                <a:ext cx="1480800" cy="1197983"/>
              </a:xfrm>
              <a:prstGeom prst="roundRect">
                <a:avLst>
                  <a:gd name="adj" fmla="val 9605"/>
                </a:avLst>
              </a:prstGeom>
              <a:gradFill flip="none" rotWithShape="1">
                <a:gsLst>
                  <a:gs pos="3000">
                    <a:srgbClr val="41B3FF"/>
                  </a:gs>
                  <a:gs pos="80000">
                    <a:srgbClr val="AD5CFF"/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19050" cap="flat" cmpd="sng" algn="ctr">
                <a:noFill/>
                <a:prstDash val="solid"/>
                <a:miter lim="800000"/>
              </a:ln>
              <a:effectLst>
                <a:outerShdw blurRad="228600" dist="38100" dir="2700000" algn="tl" rotWithShape="0">
                  <a:prstClr val="black">
                    <a:alpha val="25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mazonEmberDisplay_Rg.ttf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106A707-F206-84A7-429D-D4495DFBCBDC}"/>
                  </a:ext>
                </a:extLst>
              </p:cNvPr>
              <p:cNvSpPr txBox="1"/>
              <p:nvPr/>
            </p:nvSpPr>
            <p:spPr>
              <a:xfrm>
                <a:off x="7220185" y="5477037"/>
                <a:ext cx="1009461" cy="194048"/>
              </a:xfrm>
              <a:prstGeom prst="rect">
                <a:avLst/>
              </a:prstGeom>
            </p:spPr>
            <p:txBody>
              <a:bodyPr vert="horz" wrap="none" lIns="91440" tIns="45720" rIns="91440" bIns="45720" rtlCol="0" anchor="ctr">
                <a:no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mazon Ember Display" panose="020F0603020204020204" pitchFamily="34" charset="0"/>
                    <a:ea typeface="Amazon Ember Display" panose="020F0603020204020204" pitchFamily="34" charset="0"/>
                    <a:cs typeface="Amazon Ember Display" panose="020F0603020204020204" pitchFamily="34" charset="0"/>
                  </a:rPr>
                  <a:t>Agent</a:t>
                </a:r>
              </a:p>
            </p:txBody>
          </p: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1EB10F44-B7A2-5CA9-5211-3A35B548715A}"/>
                  </a:ext>
                </a:extLst>
              </p:cNvPr>
              <p:cNvGrpSpPr/>
              <p:nvPr/>
            </p:nvGrpSpPr>
            <p:grpSpPr>
              <a:xfrm>
                <a:off x="3739408" y="4978326"/>
                <a:ext cx="3080530" cy="1191469"/>
                <a:chOff x="900921" y="4704466"/>
                <a:chExt cx="3080530" cy="1191469"/>
              </a:xfrm>
            </p:grpSpPr>
            <p:sp>
              <p:nvSpPr>
                <p:cNvPr id="22" name="Rounded Rectangle 80">
                  <a:extLst>
                    <a:ext uri="{FF2B5EF4-FFF2-40B4-BE49-F238E27FC236}">
                      <a16:creationId xmlns:a16="http://schemas.microsoft.com/office/drawing/2014/main" id="{3576F1C7-C4EA-6D6D-1D84-A480E4C68EC1}"/>
                    </a:ext>
                  </a:extLst>
                </p:cNvPr>
                <p:cNvSpPr/>
                <p:nvPr/>
              </p:nvSpPr>
              <p:spPr>
                <a:xfrm>
                  <a:off x="1025646" y="4997563"/>
                  <a:ext cx="2834640" cy="352117"/>
                </a:xfrm>
                <a:prstGeom prst="roundRect">
                  <a:avLst>
                    <a:gd name="adj" fmla="val 16728"/>
                  </a:avLst>
                </a:prstGeom>
                <a:solidFill>
                  <a:srgbClr val="FFFFFF">
                    <a:lumMod val="75000"/>
                  </a:srgbClr>
                </a:solidFill>
                <a:ln w="19050" cap="flat" cmpd="sng" algn="ctr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lIns="0" tIns="0" rIns="0" bIns="0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1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mazon Ember Display"/>
                      <a:ea typeface="+mn-ea"/>
                      <a:cs typeface="+mn-cs"/>
                    </a:rPr>
                    <a:t>Skill</a:t>
                  </a:r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9ACC3986-ACAA-228B-FC7A-F982DF814F6B}"/>
                    </a:ext>
                  </a:extLst>
                </p:cNvPr>
                <p:cNvSpPr/>
                <p:nvPr/>
              </p:nvSpPr>
              <p:spPr>
                <a:xfrm>
                  <a:off x="900921" y="4728742"/>
                  <a:ext cx="3080530" cy="1167193"/>
                </a:xfrm>
                <a:prstGeom prst="rect">
                  <a:avLst/>
                </a:prstGeom>
                <a:noFill/>
                <a:ln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4" name="Rounded Rectangle 80">
                  <a:extLst>
                    <a:ext uri="{FF2B5EF4-FFF2-40B4-BE49-F238E27FC236}">
                      <a16:creationId xmlns:a16="http://schemas.microsoft.com/office/drawing/2014/main" id="{2F1A6423-B8C2-1867-FCA0-A7648AB3F10C}"/>
                    </a:ext>
                  </a:extLst>
                </p:cNvPr>
                <p:cNvSpPr/>
                <p:nvPr/>
              </p:nvSpPr>
              <p:spPr>
                <a:xfrm>
                  <a:off x="1006083" y="5419042"/>
                  <a:ext cx="914400" cy="352117"/>
                </a:xfrm>
                <a:prstGeom prst="roundRect">
                  <a:avLst>
                    <a:gd name="adj" fmla="val 16728"/>
                  </a:avLst>
                </a:prstGeom>
                <a:solidFill>
                  <a:srgbClr val="FFFFFF">
                    <a:lumMod val="75000"/>
                  </a:srgbClr>
                </a:solidFill>
                <a:ln w="19050" cap="flat" cmpd="sng" algn="ctr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lIns="0" tIns="0" rIns="0" bIns="0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1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mazon Ember Display"/>
                      <a:ea typeface="+mn-ea"/>
                      <a:cs typeface="+mn-cs"/>
                    </a:rPr>
                    <a:t>refs</a:t>
                  </a:r>
                </a:p>
              </p:txBody>
            </p:sp>
            <p:sp>
              <p:nvSpPr>
                <p:cNvPr id="25" name="Rounded Rectangle 80">
                  <a:extLst>
                    <a:ext uri="{FF2B5EF4-FFF2-40B4-BE49-F238E27FC236}">
                      <a16:creationId xmlns:a16="http://schemas.microsoft.com/office/drawing/2014/main" id="{E513EED1-6358-5A56-A7FE-23B54A2C113B}"/>
                    </a:ext>
                  </a:extLst>
                </p:cNvPr>
                <p:cNvSpPr/>
                <p:nvPr/>
              </p:nvSpPr>
              <p:spPr>
                <a:xfrm>
                  <a:off x="1982229" y="5419042"/>
                  <a:ext cx="914400" cy="352117"/>
                </a:xfrm>
                <a:prstGeom prst="roundRect">
                  <a:avLst>
                    <a:gd name="adj" fmla="val 16728"/>
                  </a:avLst>
                </a:prstGeom>
                <a:solidFill>
                  <a:srgbClr val="FFFFFF">
                    <a:lumMod val="75000"/>
                  </a:srgbClr>
                </a:solidFill>
                <a:ln w="19050" cap="flat" cmpd="sng" algn="ctr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lIns="0" tIns="0" rIns="0" bIns="0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1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mazon Ember Display"/>
                      <a:ea typeface="+mn-ea"/>
                      <a:cs typeface="+mn-cs"/>
                    </a:rPr>
                    <a:t>scripts</a:t>
                  </a:r>
                </a:p>
              </p:txBody>
            </p:sp>
            <p:sp>
              <p:nvSpPr>
                <p:cNvPr id="26" name="Rounded Rectangle 80">
                  <a:extLst>
                    <a:ext uri="{FF2B5EF4-FFF2-40B4-BE49-F238E27FC236}">
                      <a16:creationId xmlns:a16="http://schemas.microsoft.com/office/drawing/2014/main" id="{535A65CF-0255-1D32-6569-DEC2BFD92238}"/>
                    </a:ext>
                  </a:extLst>
                </p:cNvPr>
                <p:cNvSpPr/>
                <p:nvPr/>
              </p:nvSpPr>
              <p:spPr>
                <a:xfrm>
                  <a:off x="2966437" y="5419042"/>
                  <a:ext cx="914400" cy="352117"/>
                </a:xfrm>
                <a:prstGeom prst="roundRect">
                  <a:avLst>
                    <a:gd name="adj" fmla="val 16728"/>
                  </a:avLst>
                </a:prstGeom>
                <a:solidFill>
                  <a:srgbClr val="FFFFFF">
                    <a:lumMod val="75000"/>
                  </a:srgbClr>
                </a:solidFill>
                <a:ln w="19050" cap="flat" cmpd="sng" algn="ctr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lIns="0" tIns="0" rIns="0" bIns="0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1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mazon Ember Display"/>
                      <a:ea typeface="+mn-ea"/>
                      <a:cs typeface="+mn-cs"/>
                    </a:rPr>
                    <a:t>assets</a:t>
                  </a: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D79EE982-A4BD-38ED-27A5-E18EC1ECCA49}"/>
                    </a:ext>
                  </a:extLst>
                </p:cNvPr>
                <p:cNvSpPr txBox="1"/>
                <p:nvPr/>
              </p:nvSpPr>
              <p:spPr>
                <a:xfrm>
                  <a:off x="942231" y="4704466"/>
                  <a:ext cx="3017520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rIns="0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Amazon Ember Display" panose="020F0603020204020204" pitchFamily="34" charset="0"/>
                      <a:ea typeface="Amazon Ember Display" panose="020F0603020204020204" pitchFamily="34" charset="0"/>
                      <a:cs typeface="Amazon Ember Display" panose="020F0603020204020204" pitchFamily="34" charset="0"/>
                    </a:rPr>
                    <a:t>Skill Directory</a:t>
                  </a:r>
                </a:p>
              </p:txBody>
            </p:sp>
          </p:grpSp>
          <p:cxnSp>
            <p:nvCxnSpPr>
              <p:cNvPr id="30" name="Connector: Elbow 29">
                <a:extLst>
                  <a:ext uri="{FF2B5EF4-FFF2-40B4-BE49-F238E27FC236}">
                    <a16:creationId xmlns:a16="http://schemas.microsoft.com/office/drawing/2014/main" id="{51DAE518-BD27-CCD5-68DD-0F39EF66CE50}"/>
                  </a:ext>
                </a:extLst>
              </p:cNvPr>
              <p:cNvCxnSpPr>
                <a:cxnSpLocks/>
                <a:stCxn id="260" idx="2"/>
                <a:endCxn id="23" idx="1"/>
              </p:cNvCxnSpPr>
              <p:nvPr/>
            </p:nvCxnSpPr>
            <p:spPr>
              <a:xfrm rot="16200000" flipH="1">
                <a:off x="2379803" y="4226594"/>
                <a:ext cx="1254176" cy="1465034"/>
              </a:xfrm>
              <a:prstGeom prst="bentConnector2">
                <a:avLst/>
              </a:prstGeom>
              <a:ln>
                <a:headEnd type="none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ECFBFE1-B277-28D6-77BE-3B569CC32B58}"/>
                  </a:ext>
                </a:extLst>
              </p:cNvPr>
              <p:cNvSpPr txBox="1"/>
              <p:nvPr/>
            </p:nvSpPr>
            <p:spPr>
              <a:xfrm>
                <a:off x="1579573" y="5616259"/>
                <a:ext cx="1976164" cy="7386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rIns="0" rtlCol="0">
                <a:spAutoFit/>
              </a:bodyPr>
              <a:lstStyle/>
              <a:p>
                <a:pPr lvl="0" algn="ctr">
                  <a:defRPr/>
                </a:pPr>
                <a:r>
                  <a:rPr lang="en-US" sz="1400" i="1" dirty="0">
                    <a:latin typeface="Amazon Ember Display" panose="020F0603020204020204" pitchFamily="34" charset="0"/>
                    <a:ea typeface="Amazon Ember Display" panose="020F0603020204020204" pitchFamily="34" charset="0"/>
                    <a:cs typeface="Amazon Ember Display" panose="020F0603020204020204" pitchFamily="34" charset="0"/>
                  </a:rPr>
                  <a:t>Build skill directory, download packages and install dependencies</a:t>
                </a:r>
                <a:endParaRPr kumimoji="0" lang="en-US" sz="1400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mazon Ember Display" panose="020F0603020204020204" pitchFamily="34" charset="0"/>
                  <a:ea typeface="Amazon Ember Display" panose="020F0603020204020204" pitchFamily="34" charset="0"/>
                  <a:cs typeface="Amazon Ember Display" panose="020F0603020204020204" pitchFamily="34" charset="0"/>
                </a:endParaRP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071424E8-74E8-1A50-867B-7334930A97EA}"/>
                  </a:ext>
                </a:extLst>
              </p:cNvPr>
              <p:cNvSpPr/>
              <p:nvPr/>
            </p:nvSpPr>
            <p:spPr>
              <a:xfrm>
                <a:off x="1194012" y="5786677"/>
                <a:ext cx="332980" cy="323463"/>
              </a:xfrm>
              <a:prstGeom prst="ellipse">
                <a:avLst/>
              </a:prstGeom>
              <a:solidFill>
                <a:srgbClr val="00B05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mazon Ember Display"/>
                    <a:ea typeface="+mn-ea"/>
                    <a:cs typeface="+mn-cs"/>
                  </a:rPr>
                  <a:t>7</a:t>
                </a:r>
              </a:p>
            </p:txBody>
          </p:sp>
          <p:cxnSp>
            <p:nvCxnSpPr>
              <p:cNvPr id="36" name="Connector: Elbow 35">
                <a:extLst>
                  <a:ext uri="{FF2B5EF4-FFF2-40B4-BE49-F238E27FC236}">
                    <a16:creationId xmlns:a16="http://schemas.microsoft.com/office/drawing/2014/main" id="{E7B4F249-205D-378B-C2DB-269BF27521EC}"/>
                  </a:ext>
                </a:extLst>
              </p:cNvPr>
              <p:cNvCxnSpPr>
                <a:stCxn id="260" idx="3"/>
                <a:endCxn id="20" idx="0"/>
              </p:cNvCxnSpPr>
              <p:nvPr/>
            </p:nvCxnSpPr>
            <p:spPr>
              <a:xfrm>
                <a:off x="2875401" y="4161228"/>
                <a:ext cx="4846870" cy="815049"/>
              </a:xfrm>
              <a:prstGeom prst="bentConnector2">
                <a:avLst/>
              </a:prstGeom>
              <a:ln>
                <a:headEnd type="none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FAFA354-424A-41A3-6594-9E1847BF2DAF}"/>
                  </a:ext>
                </a:extLst>
              </p:cNvPr>
              <p:cNvSpPr txBox="1"/>
              <p:nvPr/>
            </p:nvSpPr>
            <p:spPr>
              <a:xfrm>
                <a:off x="4366773" y="4246911"/>
                <a:ext cx="1976164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rIns="0" rtlCol="0">
                <a:spAutoFit/>
              </a:bodyPr>
              <a:lstStyle/>
              <a:p>
                <a:pPr lvl="0" algn="ctr">
                  <a:defRPr/>
                </a:pPr>
                <a:r>
                  <a:rPr lang="en-US" sz="1400" i="1" dirty="0">
                    <a:latin typeface="Amazon Ember Display" panose="020F0603020204020204" pitchFamily="34" charset="0"/>
                    <a:ea typeface="Amazon Ember Display" panose="020F0603020204020204" pitchFamily="34" charset="0"/>
                    <a:cs typeface="Amazon Ember Display" panose="020F0603020204020204" pitchFamily="34" charset="0"/>
                  </a:rPr>
                  <a:t>Call agent with skills</a:t>
                </a:r>
                <a:endParaRPr kumimoji="0" lang="en-US" sz="1400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mazon Ember Display" panose="020F0603020204020204" pitchFamily="34" charset="0"/>
                  <a:ea typeface="Amazon Ember Display" panose="020F0603020204020204" pitchFamily="34" charset="0"/>
                  <a:cs typeface="Amazon Ember Display" panose="020F0603020204020204" pitchFamily="34" charset="0"/>
                </a:endParaRPr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608F4B74-9A38-E6EE-0B1C-096A50C854DE}"/>
                  </a:ext>
                </a:extLst>
              </p:cNvPr>
              <p:cNvSpPr/>
              <p:nvPr/>
            </p:nvSpPr>
            <p:spPr>
              <a:xfrm>
                <a:off x="4129945" y="4225388"/>
                <a:ext cx="332980" cy="323463"/>
              </a:xfrm>
              <a:prstGeom prst="ellipse">
                <a:avLst/>
              </a:prstGeom>
              <a:solidFill>
                <a:srgbClr val="00B05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mazon Ember Display"/>
                    <a:ea typeface="+mn-ea"/>
                    <a:cs typeface="+mn-cs"/>
                  </a:rPr>
                  <a:t>8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252580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426</TotalTime>
  <Words>288</Words>
  <Application>Microsoft Macintosh PowerPoint</Application>
  <PresentationFormat>Widescreen</PresentationFormat>
  <Paragraphs>120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Amazon Ember Display</vt:lpstr>
      <vt:lpstr>AmazonEmberDisplay_Rg.ttf</vt:lpstr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>Amazon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Thiyagarajan, Ganesh</dc:creator>
  <cp:lastModifiedBy>Mittal, Vivek</cp:lastModifiedBy>
  <cp:revision>9</cp:revision>
  <dcterms:created xsi:type="dcterms:W3CDTF">2026-04-09T20:06:31Z</dcterms:created>
  <dcterms:modified xsi:type="dcterms:W3CDTF">2026-04-10T17:45:25Z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2026-04-10T02:53:45Z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bb1b4f69-3bb7-48bb-81bf-8168c052a6be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10, 3, 0, 1</vt:lpwstr>
  </property>
</Properties>
</file>